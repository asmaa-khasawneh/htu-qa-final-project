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  <p:sldMasterId id="2147483681" r:id="rId2"/>
  </p:sldMasterIdLst>
  <p:notesMasterIdLst>
    <p:notesMasterId r:id="rId15"/>
  </p:notesMasterIdLst>
  <p:sldIdLst>
    <p:sldId id="256" r:id="rId3"/>
    <p:sldId id="258" r:id="rId4"/>
    <p:sldId id="259" r:id="rId5"/>
    <p:sldId id="298" r:id="rId6"/>
    <p:sldId id="261" r:id="rId7"/>
    <p:sldId id="299" r:id="rId8"/>
    <p:sldId id="257" r:id="rId9"/>
    <p:sldId id="262" r:id="rId10"/>
    <p:sldId id="301" r:id="rId11"/>
    <p:sldId id="264" r:id="rId12"/>
    <p:sldId id="267" r:id="rId13"/>
    <p:sldId id="300" r:id="rId14"/>
  </p:sldIdLst>
  <p:sldSz cx="9144000" cy="5143500" type="screen16x9"/>
  <p:notesSz cx="6858000" cy="9144000"/>
  <p:embeddedFontLst>
    <p:embeddedFont>
      <p:font typeface="Anaheim" panose="020B0604020202020204" charset="0"/>
      <p:regular r:id="rId16"/>
      <p:bold r:id="rId17"/>
    </p:embeddedFont>
    <p:embeddedFont>
      <p:font typeface="Poppins" panose="00000500000000000000" pitchFamily="2" charset="0"/>
      <p:regular r:id="rId18"/>
      <p:bold r:id="rId19"/>
      <p:italic r:id="rId20"/>
      <p:boldItalic r:id="rId21"/>
    </p:embeddedFont>
    <p:embeddedFont>
      <p:font typeface="Roboto Medium" panose="020000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4743BE-1219-47BA-B29B-DC467E97AB98}" v="85" dt="2026-02-10T04:27:04.202"/>
    <p1510:client id="{0D6BBA16-84FC-4C9F-A23C-A37B11104EDE}" v="302" dt="2026-02-08T17:12:56.496"/>
    <p1510:client id="{0EF36317-306D-4EF0-9A4E-1D5F18C415DB}" v="191" dt="2026-02-08T19:12:50.125"/>
    <p1510:client id="{5DD36A6A-7AEB-B712-2E03-CC0CBF7B291B}" v="4" dt="2026-02-09T16:38:43.356"/>
    <p1510:client id="{8E97466D-3B20-41AB-A7A5-32CC200ADA1A}" v="50" dt="2026-02-08T16:27:15.034"/>
    <p1510:client id="{9D5B01E1-8ADC-42D0-9476-AE4CCBBBF1A5}" v="175" dt="2026-02-08T18:53:19.072"/>
    <p1510:client id="{B81DE52B-ACF1-442C-886F-C7E1C99D8B9B}" v="275" dt="2026-02-08T19:52:51.732"/>
  </p1510:revLst>
</p1510:revInfo>
</file>

<file path=ppt/tableStyles.xml><?xml version="1.0" encoding="utf-8"?>
<a:tblStyleLst xmlns:a="http://schemas.openxmlformats.org/drawingml/2006/main" def="{B7BAABC3-A202-4F3F-B023-6F4C28FE8A6F}">
  <a:tblStyle styleId="{B7BAABC3-A202-4F3F-B023-6F4C28FE8A6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0E54CC-8E98-4F2E-93AE-7B48CDE7031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font" Target="fonts/font6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9.fntdata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7.fntdata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>
              <a:spcBef>
                <a:spcPts val="0"/>
              </a:spcBef>
              <a:spcAft>
                <a:spcPts val="0"/>
              </a:spcAft>
            </a:pPr>
            <a:endParaRPr lang="en-US"/>
          </a:p>
          <a:p>
            <a:pPr marL="171450" indent="-171450"/>
            <a:r>
              <a:rPr lang="en-US" b="1" dirty="0"/>
              <a:t>It’s a pleasure to be here today</a:t>
            </a:r>
            <a:endParaRPr lang="en-US" dirty="0"/>
          </a:p>
          <a:p>
            <a:pPr marL="171450" indent="-171450"/>
            <a:r>
              <a:rPr lang="en-US" b="1" dirty="0" err="1"/>
              <a:t>Self introduction</a:t>
            </a:r>
            <a:endParaRPr lang="en-US" dirty="0" err="1"/>
          </a:p>
          <a:p>
            <a:pPr marL="171450" indent="-171450"/>
            <a:r>
              <a:rPr lang="en-US" b="1" dirty="0" err="1"/>
              <a:t>Tahaluf</a:t>
            </a:r>
            <a:r>
              <a:rPr lang="en-US" b="1" dirty="0"/>
              <a:t> Al Emarat training</a:t>
            </a:r>
            <a:endParaRPr lang="en-US" dirty="0"/>
          </a:p>
          <a:p>
            <a:pPr marL="171450" indent="-171450"/>
            <a:r>
              <a:rPr lang="en-US" b="1" dirty="0"/>
              <a:t>HTU Quality Assurance program</a:t>
            </a:r>
            <a:endParaRPr lang="en-US" dirty="0"/>
          </a:p>
          <a:p>
            <a:pPr marL="171450" indent="-171450"/>
            <a:r>
              <a:rPr lang="en-US" b="1" dirty="0"/>
              <a:t>Final project overview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285750" indent="-285750"/>
            <a:r>
              <a:rPr lang="en-US" b="1" dirty="0"/>
              <a:t>The project consists of seven main parts</a:t>
            </a:r>
            <a:endParaRPr lang="en-US" dirty="0"/>
          </a:p>
          <a:p>
            <a:pPr marL="285750" indent="-285750"/>
            <a:r>
              <a:rPr lang="en-US" b="1" dirty="0"/>
              <a:t>Through each part, I will explain how it was implemented in this project</a:t>
            </a:r>
            <a:endParaRPr lang="en-US" dirty="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/>
            <a:r>
              <a:rPr lang="en-US" b="1" dirty="0"/>
              <a:t>As a QA engineer, having a clear test plan is essential before starting any testing activities</a:t>
            </a:r>
            <a:endParaRPr lang="en-US" dirty="0"/>
          </a:p>
          <a:p>
            <a:pPr marL="171450" indent="-171450"/>
            <a:r>
              <a:rPr lang="en-US" b="1" dirty="0"/>
              <a:t>A comprehensive test plan was created for the demo application</a:t>
            </a:r>
            <a:endParaRPr lang="en-US" dirty="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6DA07C9F-DB4C-3D6D-67E7-D907D0703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206F0CE4-A295-F509-F081-850FF44437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8DFAD3F9-2AC5-A132-041D-45356E104B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/>
            <a:r>
              <a:rPr lang="en-US" b="1" dirty="0"/>
              <a:t>Covered all user roles in the system</a:t>
            </a:r>
            <a:endParaRPr lang="en-US" dirty="0"/>
          </a:p>
          <a:p>
            <a:pPr marL="171450" indent="-171450"/>
            <a:r>
              <a:rPr lang="en-US" b="1" dirty="0"/>
              <a:t>Created and executed 59 manual test cases</a:t>
            </a:r>
            <a:endParaRPr lang="en-US" dirty="0"/>
          </a:p>
          <a:p>
            <a:pPr marL="171450" indent="-171450"/>
            <a:r>
              <a:rPr lang="en-US" b="1" dirty="0"/>
              <a:t>Reported 22 documented defects</a:t>
            </a:r>
            <a:endParaRPr lang="en-US" dirty="0"/>
          </a:p>
          <a:p>
            <a:pPr marL="171450" indent="-171450"/>
            <a:r>
              <a:rPr lang="en-US" b="1" dirty="0"/>
              <a:t>As shown, test cases and bug reports followed a clear structure</a:t>
            </a:r>
            <a:endParaRPr lang="en-US" dirty="0"/>
          </a:p>
          <a:p>
            <a:pPr marL="171450" indent="-171450"/>
            <a:r>
              <a:rPr lang="en-US" b="1" dirty="0"/>
              <a:t>Included all essential fields</a:t>
            </a:r>
            <a:endParaRPr lang="en-US" dirty="0"/>
          </a:p>
          <a:p>
            <a:pPr marL="171450" indent="-171450"/>
            <a:r>
              <a:rPr lang="en-US" b="1" dirty="0"/>
              <a:t>Ensured traceability between test cases and defects</a:t>
            </a:r>
            <a:endParaRPr lang="en-US" dirty="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581783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402c29534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402c29534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/>
            <a:r>
              <a:rPr lang="en-US" b="1" dirty="0" err="1"/>
              <a:t>DummyJSON</a:t>
            </a:r>
            <a:r>
              <a:rPr lang="en-US" b="1" dirty="0"/>
              <a:t> API</a:t>
            </a:r>
            <a:endParaRPr lang="en-US" dirty="0"/>
          </a:p>
          <a:p>
            <a:pPr marL="171450" indent="-171450"/>
            <a:r>
              <a:rPr lang="en-US" b="1" dirty="0"/>
              <a:t>Postman collection structure</a:t>
            </a:r>
            <a:endParaRPr lang="en-US" dirty="0"/>
          </a:p>
          <a:p>
            <a:pPr marL="171450" indent="-171450"/>
            <a:r>
              <a:rPr lang="en-US" b="1" dirty="0"/>
              <a:t>Environment variables configuration</a:t>
            </a:r>
            <a:endParaRPr lang="en-US" dirty="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>
          <a:extLst>
            <a:ext uri="{FF2B5EF4-FFF2-40B4-BE49-F238E27FC236}">
              <a16:creationId xmlns:a16="http://schemas.microsoft.com/office/drawing/2014/main" id="{1A039A5B-0E0A-94D6-2128-6F77A52F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402c295343_0_0:notes">
            <a:extLst>
              <a:ext uri="{FF2B5EF4-FFF2-40B4-BE49-F238E27FC236}">
                <a16:creationId xmlns:a16="http://schemas.microsoft.com/office/drawing/2014/main" id="{6B4B2034-FD1B-E574-7DB8-11C363890C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402c295343_0_0:notes">
            <a:extLst>
              <a:ext uri="{FF2B5EF4-FFF2-40B4-BE49-F238E27FC236}">
                <a16:creationId xmlns:a16="http://schemas.microsoft.com/office/drawing/2014/main" id="{1EFCDD57-2EB5-DF0D-4308-C2EF6E1A31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/>
            <a:r>
              <a:rPr lang="en-US" b="1" dirty="0"/>
              <a:t>23 API requests</a:t>
            </a:r>
            <a:endParaRPr lang="en-US" dirty="0"/>
          </a:p>
          <a:p>
            <a:pPr marL="171450" indent="-171450"/>
            <a:r>
              <a:rPr lang="en-US" b="1" dirty="0"/>
              <a:t>Randomized test data</a:t>
            </a:r>
            <a:endParaRPr lang="en-US" dirty="0"/>
          </a:p>
          <a:p>
            <a:pPr marL="171450" indent="-171450"/>
            <a:r>
              <a:rPr lang="en-US" b="1" dirty="0"/>
              <a:t>Data-driven testing using a CSV file</a:t>
            </a:r>
            <a:endParaRPr lang="en-US" dirty="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08526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/>
            <a:r>
              <a:rPr lang="en-US" b="1" dirty="0"/>
              <a:t>A mandatory Newman test was generated to provide a clear execution summary</a:t>
            </a:r>
            <a:endParaRPr lang="en-US" dirty="0"/>
          </a:p>
          <a:p>
            <a:pPr marL="171450" indent="-171450"/>
            <a:r>
              <a:rPr lang="en-US" b="1" dirty="0"/>
              <a:t>Three iterations were executed using the CSV file</a:t>
            </a:r>
            <a:endParaRPr lang="en-US" dirty="0"/>
          </a:p>
          <a:p>
            <a:pPr marL="171450" indent="-171450"/>
            <a:r>
              <a:rPr lang="en-US" b="1" dirty="0"/>
              <a:t>429 assertions were performed</a:t>
            </a:r>
            <a:endParaRPr lang="en-US" dirty="0"/>
          </a:p>
          <a:p>
            <a:pPr marL="171450" indent="-171450"/>
            <a:r>
              <a:rPr lang="en-US" b="1" dirty="0"/>
              <a:t>18 assertions failed as part of negative test scenarios</a:t>
            </a:r>
            <a:endParaRPr lang="en-US" dirty="0"/>
          </a:p>
          <a:p>
            <a:pPr marL="171450" indent="-171450"/>
            <a:r>
              <a:rPr lang="en-US" b="1" dirty="0"/>
              <a:t>Zero skipped tests, indicating that all endpoints were fully tested</a:t>
            </a:r>
            <a:endParaRPr lang="en-US" dirty="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/>
            <a:r>
              <a:rPr lang="en-US" b="1" dirty="0"/>
              <a:t>Current related API endpoints</a:t>
            </a:r>
            <a:endParaRPr lang="en-US" dirty="0"/>
          </a:p>
          <a:p>
            <a:pPr marL="171450" indent="-171450"/>
            <a:r>
              <a:rPr lang="en-US" b="1" dirty="0"/>
              <a:t>Two test scenarios were conducted: smoke test and load test</a:t>
            </a:r>
            <a:endParaRPr lang="en-US" dirty="0"/>
          </a:p>
          <a:p>
            <a:pPr marL="171450" indent="-171450"/>
            <a:r>
              <a:rPr lang="en-US" b="1" dirty="0"/>
              <a:t>Defined thresholds for HTTP request duration, HTTP request failures, and checks</a:t>
            </a:r>
            <a:endParaRPr lang="en-US" dirty="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har char="•"/>
            </a:pPr>
            <a:r>
              <a:rPr lang="en-US" b="1" dirty="0"/>
              <a:t>As a result, the system remained stable</a:t>
            </a:r>
            <a:endParaRPr lang="en-US" dirty="0"/>
          </a:p>
          <a:p>
            <a:pPr marL="285750" indent="-285750">
              <a:buChar char="•"/>
            </a:pPr>
            <a:r>
              <a:rPr lang="en-US" b="1" dirty="0"/>
              <a:t>No failed requests were detected</a:t>
            </a:r>
            <a:endParaRPr lang="en-US" dirty="0"/>
          </a:p>
          <a:p>
            <a:pPr marL="285750" indent="-285750">
              <a:buChar char="•"/>
            </a:pPr>
            <a:r>
              <a:rPr lang="en-US" b="1" dirty="0"/>
              <a:t>Response times were within acceptable limits</a:t>
            </a:r>
            <a:endParaRPr lang="en-US" dirty="0"/>
          </a:p>
          <a:p>
            <a:pPr marL="285750" indent="-285750">
              <a:buChar char="•"/>
            </a:pPr>
            <a:r>
              <a:rPr lang="en-US" b="1" dirty="0"/>
              <a:t>The system met the defined performance acceptance criteria</a:t>
            </a:r>
            <a:endParaRPr lang="en-US" dirty="0"/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661464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/>
            <a:r>
              <a:rPr lang="en-US" b="1" dirty="0"/>
              <a:t>Used Selenium framework with Eclipse</a:t>
            </a:r>
            <a:endParaRPr lang="en-US" dirty="0"/>
          </a:p>
          <a:p>
            <a:pPr marL="171450" indent="-171450"/>
            <a:r>
              <a:rPr lang="en-US" b="1" dirty="0"/>
              <a:t>Implemented 22 automated test cases</a:t>
            </a:r>
            <a:endParaRPr lang="en-US" dirty="0"/>
          </a:p>
          <a:p>
            <a:pPr marL="171450" indent="-171450"/>
            <a:r>
              <a:rPr lang="en-US" b="1" dirty="0"/>
              <a:t>Created a dedicated package for test data</a:t>
            </a:r>
            <a:endParaRPr lang="en-US" dirty="0"/>
          </a:p>
          <a:p>
            <a:pPr marL="171450" indent="-171450"/>
            <a:r>
              <a:rPr lang="en-US" b="1" dirty="0"/>
              <a:t>Created a dedicated package for test cases</a:t>
            </a:r>
            <a:endParaRPr lang="en-US" dirty="0"/>
          </a:p>
          <a:p>
            <a:pPr marL="171450" indent="-171450"/>
            <a:r>
              <a:rPr lang="en-US" b="1" dirty="0"/>
              <a:t>A test suite was implemented to execute tests for multiple users</a:t>
            </a:r>
            <a:endParaRPr lang="en-US" dirty="0"/>
          </a:p>
          <a:p>
            <a:pPr marL="171450" indent="-171450"/>
            <a:r>
              <a:rPr lang="en-US" b="1" dirty="0"/>
              <a:t>Both happy path and negative scenarios were covered (7 scenarios)</a:t>
            </a:r>
            <a:endParaRPr lang="en-US" dirty="0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None/>
            </a:pPr>
            <a:r>
              <a:rPr lang="en-US" dirty="0" err="1"/>
              <a:t>تمام</a:t>
            </a:r>
            <a:r>
              <a:rPr lang="en-US" dirty="0"/>
              <a:t> 👌 </a:t>
            </a:r>
            <a:r>
              <a:rPr lang="en-US" dirty="0" err="1"/>
              <a:t>هاي</a:t>
            </a:r>
            <a:r>
              <a:rPr lang="en-US" dirty="0"/>
              <a:t> </a:t>
            </a:r>
            <a:r>
              <a:rPr lang="en-US" dirty="0" err="1"/>
              <a:t>صياغة</a:t>
            </a:r>
            <a:r>
              <a:rPr lang="en-US" dirty="0"/>
              <a:t> </a:t>
            </a:r>
            <a:r>
              <a:rPr lang="en-US" b="1" dirty="0" err="1"/>
              <a:t>مصقولة</a:t>
            </a:r>
            <a:r>
              <a:rPr lang="en-US" b="1" dirty="0"/>
              <a:t> </a:t>
            </a:r>
            <a:r>
              <a:rPr lang="en-US" b="1" dirty="0" err="1"/>
              <a:t>واحترافية</a:t>
            </a:r>
            <a:r>
              <a:rPr lang="en-US" dirty="0"/>
              <a:t> </a:t>
            </a:r>
            <a:r>
              <a:rPr lang="en-US" dirty="0" err="1"/>
              <a:t>وجاهزة</a:t>
            </a:r>
            <a:r>
              <a:rPr lang="en-US" dirty="0"/>
              <a:t> </a:t>
            </a:r>
            <a:r>
              <a:rPr lang="en-US" dirty="0" err="1"/>
              <a:t>للسلايد</a:t>
            </a:r>
            <a:r>
              <a:rPr lang="en-US" dirty="0"/>
              <a:t>:</a:t>
            </a:r>
          </a:p>
          <a:p>
            <a:pPr marL="171450" indent="-171450"/>
            <a:r>
              <a:rPr lang="en-US" b="1" dirty="0"/>
              <a:t>Mobile testing was performed using Android Studio and Appium Inspector</a:t>
            </a:r>
            <a:endParaRPr lang="en-US" dirty="0"/>
          </a:p>
          <a:p>
            <a:pPr marL="171450" indent="-171450"/>
            <a:r>
              <a:rPr lang="en-US" b="1" dirty="0"/>
              <a:t>A total of three basic mobile test cases were executed</a:t>
            </a:r>
            <a:endParaRPr lang="en-US" dirty="0"/>
          </a:p>
          <a:p>
            <a:pPr marL="171450" indent="-171450"/>
            <a:r>
              <a:rPr lang="en-US" b="1" dirty="0"/>
              <a:t>Testing was conducted on the </a:t>
            </a:r>
            <a:r>
              <a:rPr lang="en-US" b="1" dirty="0" err="1"/>
              <a:t>SwagLabs</a:t>
            </a:r>
            <a:r>
              <a:rPr lang="en-US" b="1" dirty="0"/>
              <a:t> mobile application</a:t>
            </a:r>
            <a:endParaRPr lang="en-US" dirty="0"/>
          </a:p>
          <a:p>
            <a:pPr marL="171450" indent="-171450"/>
            <a:r>
              <a:rPr lang="en-US" b="1" dirty="0"/>
              <a:t>The test cases included login, add to cart, and remove from cart</a:t>
            </a:r>
            <a:endParaRPr lang="en-US" dirty="0"/>
          </a:p>
          <a:p>
            <a:pPr indent="0">
              <a:buNone/>
            </a:pPr>
            <a:r>
              <a:rPr lang="en-US" dirty="0" err="1"/>
              <a:t>إذا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>
          <a:extLst>
            <a:ext uri="{FF2B5EF4-FFF2-40B4-BE49-F238E27FC236}">
              <a16:creationId xmlns:a16="http://schemas.microsoft.com/office/drawing/2014/main" id="{EFF012DB-CB7F-05E2-8419-E34700E4B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54dda1946d_4_2726:notes">
            <a:extLst>
              <a:ext uri="{FF2B5EF4-FFF2-40B4-BE49-F238E27FC236}">
                <a16:creationId xmlns:a16="http://schemas.microsoft.com/office/drawing/2014/main" id="{27CA2BB0-D0B8-9760-2388-378CC4281C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54dda1946d_4_2726:notes">
            <a:extLst>
              <a:ext uri="{FF2B5EF4-FFF2-40B4-BE49-F238E27FC236}">
                <a16:creationId xmlns:a16="http://schemas.microsoft.com/office/drawing/2014/main" id="{9B9DA3BD-EF14-B18A-B98D-ADAD05D37F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None/>
            </a:pPr>
            <a:r>
              <a:rPr lang="en-US" b="1"/>
              <a:t>“In conclusion, this project demonstrates my ability to apply a complete QA process using different testing approaches and tools.</a:t>
            </a:r>
            <a:br>
              <a:rPr lang="en-US" b="1" dirty="0"/>
            </a:br>
            <a:r>
              <a:rPr lang="en-US" b="1"/>
              <a:t> Thank you for your time, and I’m happy to answer any questions.”</a:t>
            </a:r>
            <a:endParaRPr lang="en-US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29800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hyperlink" Target="https://bit.ly/3A1uf1Q" TargetMode="Externa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3.png"/><Relationship Id="rId9" Type="http://schemas.openxmlformats.org/officeDocument/2006/relationships/hyperlink" Target="http://bit.ly/2TtBDfr" TargetMode="Externa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6825" y="1613"/>
            <a:ext cx="9163538" cy="5147081"/>
            <a:chOff x="-21325" y="-6819"/>
            <a:chExt cx="9163538" cy="5147081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2626712" y="4610687"/>
              <a:ext cx="6515501" cy="529575"/>
              <a:chOff x="2626712" y="4610687"/>
              <a:chExt cx="6515501" cy="529575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26712" y="4610687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840980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6" name="Google Shape;16;p2"/>
            <p:cNvGrpSpPr/>
            <p:nvPr/>
          </p:nvGrpSpPr>
          <p:grpSpPr>
            <a:xfrm>
              <a:off x="-21325" y="-6819"/>
              <a:ext cx="6523526" cy="536050"/>
              <a:chOff x="-21325" y="-6819"/>
              <a:chExt cx="6523526" cy="536050"/>
            </a:xfrm>
          </p:grpSpPr>
          <p:pic>
            <p:nvPicPr>
              <p:cNvPr id="17" name="Google Shape;17;p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-21325" y="-6819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8" name="Google Shape;18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43800" y="239786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9" name="Google Shape;19;p2"/>
          <p:cNvGrpSpPr/>
          <p:nvPr/>
        </p:nvGrpSpPr>
        <p:grpSpPr>
          <a:xfrm>
            <a:off x="-6819" y="-7400"/>
            <a:ext cx="9157637" cy="5158300"/>
            <a:chOff x="0" y="0"/>
            <a:chExt cx="9157637" cy="5158300"/>
          </a:xfrm>
        </p:grpSpPr>
        <p:pic>
          <p:nvPicPr>
            <p:cNvPr id="20" name="Google Shape;20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906088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1225" y="0"/>
            <a:ext cx="972775" cy="9727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" name="Google Shape;25;p3"/>
          <p:cNvGrpSpPr/>
          <p:nvPr/>
        </p:nvGrpSpPr>
        <p:grpSpPr>
          <a:xfrm>
            <a:off x="4303195" y="4617494"/>
            <a:ext cx="4845850" cy="529600"/>
            <a:chOff x="4296376" y="4610675"/>
            <a:chExt cx="4845850" cy="529600"/>
          </a:xfrm>
        </p:grpSpPr>
        <p:pic>
          <p:nvPicPr>
            <p:cNvPr id="26" name="Google Shape;26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>
              <a:off x="4296376" y="4610675"/>
              <a:ext cx="4845850" cy="529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Google Shape;27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" name="Google Shape;28;p3"/>
          <p:cNvSpPr txBox="1">
            <a:spLocks noGrp="1"/>
          </p:cNvSpPr>
          <p:nvPr>
            <p:ph type="title"/>
          </p:nvPr>
        </p:nvSpPr>
        <p:spPr>
          <a:xfrm>
            <a:off x="4047175" y="2409650"/>
            <a:ext cx="4383600" cy="139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title" idx="2" hasCustomPrompt="1"/>
          </p:nvPr>
        </p:nvSpPr>
        <p:spPr>
          <a:xfrm>
            <a:off x="5690275" y="1037350"/>
            <a:ext cx="1097400" cy="1097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0" name="Google Shape;30;p3"/>
          <p:cNvSpPr>
            <a:spLocks noGrp="1"/>
          </p:cNvSpPr>
          <p:nvPr>
            <p:ph type="pic" idx="3"/>
          </p:nvPr>
        </p:nvSpPr>
        <p:spPr>
          <a:xfrm>
            <a:off x="713225" y="539500"/>
            <a:ext cx="27606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713225" y="1099175"/>
            <a:ext cx="3171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34" name="Google Shape;34;p4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35" name="Google Shape;35;p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" name="Google Shape;36;p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7" name="Google Shape;37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 flipH="1">
            <a:off x="0" y="4170737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49350" y="3712050"/>
            <a:ext cx="1768001" cy="1350575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4"/>
          <p:cNvSpPr txBox="1">
            <a:spLocks noGrp="1"/>
          </p:cNvSpPr>
          <p:nvPr>
            <p:ph type="subTitle" idx="1"/>
          </p:nvPr>
        </p:nvSpPr>
        <p:spPr>
          <a:xfrm>
            <a:off x="713225" y="2630525"/>
            <a:ext cx="3171900" cy="16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1"/>
          </p:nvPr>
        </p:nvSpPr>
        <p:spPr>
          <a:xfrm>
            <a:off x="3553500" y="3054555"/>
            <a:ext cx="4787100" cy="90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ubTitle" idx="2"/>
          </p:nvPr>
        </p:nvSpPr>
        <p:spPr>
          <a:xfrm>
            <a:off x="3553500" y="1649136"/>
            <a:ext cx="4787100" cy="90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subTitle" idx="3"/>
          </p:nvPr>
        </p:nvSpPr>
        <p:spPr>
          <a:xfrm>
            <a:off x="1859700" y="1649136"/>
            <a:ext cx="1541400" cy="90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4"/>
          </p:nvPr>
        </p:nvSpPr>
        <p:spPr>
          <a:xfrm>
            <a:off x="1859700" y="3054549"/>
            <a:ext cx="1541400" cy="90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grpSp>
        <p:nvGrpSpPr>
          <p:cNvPr id="47" name="Google Shape;47;p5"/>
          <p:cNvGrpSpPr/>
          <p:nvPr/>
        </p:nvGrpSpPr>
        <p:grpSpPr>
          <a:xfrm rot="10800000">
            <a:off x="2620475" y="4773475"/>
            <a:ext cx="6523526" cy="369900"/>
            <a:chOff x="0" y="0"/>
            <a:chExt cx="6523526" cy="369900"/>
          </a:xfrm>
        </p:grpSpPr>
        <p:pic>
          <p:nvPicPr>
            <p:cNvPr id="48" name="Google Shape;48;p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9;p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50" name="Google Shape;50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4170737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pic>
        <p:nvPicPr>
          <p:cNvPr id="54" name="Google Shape;54;p6"/>
          <p:cNvPicPr preferRelativeResize="0"/>
          <p:nvPr/>
        </p:nvPicPr>
        <p:blipFill rotWithShape="1">
          <a:blip r:embed="rId3">
            <a:alphaModFix/>
          </a:blip>
          <a:srcRect l="31651" t="130" b="18270"/>
          <a:stretch/>
        </p:blipFill>
        <p:spPr>
          <a:xfrm rot="10800000" flipH="1">
            <a:off x="8199274" y="11375"/>
            <a:ext cx="1173326" cy="1070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-1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subTitle" idx="1"/>
          </p:nvPr>
        </p:nvSpPr>
        <p:spPr>
          <a:xfrm>
            <a:off x="713225" y="2109663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60" name="Google Shape;60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61" name="Google Shape;6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7"/>
          <p:cNvPicPr preferRelativeResize="0"/>
          <p:nvPr/>
        </p:nvPicPr>
        <p:blipFill rotWithShape="1">
          <a:blip r:embed="rId4">
            <a:alphaModFix/>
          </a:blip>
          <a:srcRect t="129" b="129"/>
          <a:stretch/>
        </p:blipFill>
        <p:spPr>
          <a:xfrm rot="-5400000">
            <a:off x="7509601" y="3503753"/>
            <a:ext cx="1716695" cy="13079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" name="Google Shape;63;p7"/>
          <p:cNvGrpSpPr/>
          <p:nvPr/>
        </p:nvGrpSpPr>
        <p:grpSpPr>
          <a:xfrm>
            <a:off x="0" y="0"/>
            <a:ext cx="5837899" cy="536050"/>
            <a:chOff x="0" y="0"/>
            <a:chExt cx="5837899" cy="536050"/>
          </a:xfrm>
        </p:grpSpPr>
        <p:pic>
          <p:nvPicPr>
            <p:cNvPr id="64" name="Google Shape;64;p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65;p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pic>
        <p:nvPicPr>
          <p:cNvPr id="69" name="Google Shape;69;p8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257665" y="461283"/>
            <a:ext cx="1768000" cy="10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7890675" y="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" name="Google Shape;71;p8"/>
          <p:cNvGrpSpPr/>
          <p:nvPr/>
        </p:nvGrpSpPr>
        <p:grpSpPr>
          <a:xfrm>
            <a:off x="3881699" y="4752250"/>
            <a:ext cx="5260526" cy="388025"/>
            <a:chOff x="3881699" y="4752250"/>
            <a:chExt cx="5260526" cy="388025"/>
          </a:xfrm>
        </p:grpSpPr>
        <p:pic>
          <p:nvPicPr>
            <p:cNvPr id="72" name="Google Shape;72;p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78" name="Google Shape;78;p9"/>
          <p:cNvGrpSpPr/>
          <p:nvPr/>
        </p:nvGrpSpPr>
        <p:grpSpPr>
          <a:xfrm>
            <a:off x="-1" y="2100"/>
            <a:ext cx="9144001" cy="5141388"/>
            <a:chOff x="-1" y="2100"/>
            <a:chExt cx="9144001" cy="5141388"/>
          </a:xfrm>
        </p:grpSpPr>
        <p:pic>
          <p:nvPicPr>
            <p:cNvPr id="79" name="Google Shape;7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1" name="Google Shape;81;p9"/>
          <p:cNvGrpSpPr/>
          <p:nvPr/>
        </p:nvGrpSpPr>
        <p:grpSpPr>
          <a:xfrm rot="10800000">
            <a:off x="0" y="2100"/>
            <a:ext cx="4881173" cy="365700"/>
            <a:chOff x="4261050" y="4610675"/>
            <a:chExt cx="4881173" cy="365700"/>
          </a:xfrm>
        </p:grpSpPr>
        <p:pic>
          <p:nvPicPr>
            <p:cNvPr id="82" name="Google Shape;82;p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83;p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1"/>
          <p:cNvSpPr txBox="1">
            <a:spLocks noGrp="1"/>
          </p:cNvSpPr>
          <p:nvPr>
            <p:ph type="title" hasCustomPrompt="1"/>
          </p:nvPr>
        </p:nvSpPr>
        <p:spPr>
          <a:xfrm>
            <a:off x="2476500" y="1872450"/>
            <a:ext cx="4191000" cy="1043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"/>
          </p:nvPr>
        </p:nvSpPr>
        <p:spPr>
          <a:xfrm>
            <a:off x="2476500" y="2839950"/>
            <a:ext cx="4191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91" name="Google Shape;9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170784" y="263618"/>
            <a:ext cx="1768000" cy="13505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11"/>
          <p:cNvGrpSpPr/>
          <p:nvPr/>
        </p:nvGrpSpPr>
        <p:grpSpPr>
          <a:xfrm flipH="1">
            <a:off x="0" y="0"/>
            <a:ext cx="9144000" cy="5158300"/>
            <a:chOff x="0" y="0"/>
            <a:chExt cx="9144000" cy="5158300"/>
          </a:xfrm>
        </p:grpSpPr>
        <p:pic>
          <p:nvPicPr>
            <p:cNvPr id="93" name="Google Shape;93;p1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892450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4" name="Google Shape;94;p1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5" name="Google Shape;95;p11"/>
          <p:cNvGrpSpPr/>
          <p:nvPr/>
        </p:nvGrpSpPr>
        <p:grpSpPr>
          <a:xfrm flipH="1">
            <a:off x="-5031" y="0"/>
            <a:ext cx="9149031" cy="5153900"/>
            <a:chOff x="0" y="0"/>
            <a:chExt cx="9149031" cy="5153900"/>
          </a:xfrm>
        </p:grpSpPr>
        <p:grpSp>
          <p:nvGrpSpPr>
            <p:cNvPr id="96" name="Google Shape;96;p11"/>
            <p:cNvGrpSpPr/>
            <p:nvPr/>
          </p:nvGrpSpPr>
          <p:grpSpPr>
            <a:xfrm>
              <a:off x="2633530" y="4624325"/>
              <a:ext cx="6515501" cy="529575"/>
              <a:chOff x="2633530" y="4624325"/>
              <a:chExt cx="6515501" cy="529575"/>
            </a:xfrm>
          </p:grpSpPr>
          <p:pic>
            <p:nvPicPr>
              <p:cNvPr id="97" name="Google Shape;97;p11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 rot="10800000">
                <a:off x="2633530" y="4624325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8" name="Google Shape;98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 rot="10800000">
                <a:off x="7300206" y="485461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9" name="Google Shape;99;p11"/>
            <p:cNvGrpSpPr/>
            <p:nvPr/>
          </p:nvGrpSpPr>
          <p:grpSpPr>
            <a:xfrm>
              <a:off x="0" y="0"/>
              <a:ext cx="6523526" cy="536050"/>
              <a:chOff x="0" y="0"/>
              <a:chExt cx="6523526" cy="536050"/>
            </a:xfrm>
          </p:grpSpPr>
          <p:pic>
            <p:nvPicPr>
              <p:cNvPr id="100" name="Google Shape;100;p11"/>
              <p:cNvPicPr preferRelativeResize="0"/>
              <p:nvPr/>
            </p:nvPicPr>
            <p:blipFill>
              <a:blip r:embed="rId8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1" name="Google Shape;101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>
                <a:off x="265125" y="2466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13"/>
          <p:cNvSpPr txBox="1">
            <a:spLocks noGrp="1"/>
          </p:cNvSpPr>
          <p:nvPr>
            <p:ph type="title" idx="2" hasCustomPrompt="1"/>
          </p:nvPr>
        </p:nvSpPr>
        <p:spPr>
          <a:xfrm>
            <a:off x="3759205" y="1699096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 idx="3" hasCustomPrompt="1"/>
          </p:nvPr>
        </p:nvSpPr>
        <p:spPr>
          <a:xfrm>
            <a:off x="4690005" y="1699096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4" hasCustomPrompt="1"/>
          </p:nvPr>
        </p:nvSpPr>
        <p:spPr>
          <a:xfrm>
            <a:off x="3759193" y="2781754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5" hasCustomPrompt="1"/>
          </p:nvPr>
        </p:nvSpPr>
        <p:spPr>
          <a:xfrm>
            <a:off x="4689993" y="2781754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title" idx="6" hasCustomPrompt="1"/>
          </p:nvPr>
        </p:nvSpPr>
        <p:spPr>
          <a:xfrm>
            <a:off x="3759207" y="3864413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1" name="Google Shape;111;p13"/>
          <p:cNvSpPr txBox="1">
            <a:spLocks noGrp="1"/>
          </p:cNvSpPr>
          <p:nvPr>
            <p:ph type="title" idx="7" hasCustomPrompt="1"/>
          </p:nvPr>
        </p:nvSpPr>
        <p:spPr>
          <a:xfrm>
            <a:off x="4690007" y="3864413"/>
            <a:ext cx="694800" cy="6948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"/>
          </p:nvPr>
        </p:nvSpPr>
        <p:spPr>
          <a:xfrm>
            <a:off x="1280600" y="1699100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8"/>
          </p:nvPr>
        </p:nvSpPr>
        <p:spPr>
          <a:xfrm>
            <a:off x="1280600" y="2781762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9"/>
          </p:nvPr>
        </p:nvSpPr>
        <p:spPr>
          <a:xfrm>
            <a:off x="1280600" y="3864423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13"/>
          </p:nvPr>
        </p:nvSpPr>
        <p:spPr>
          <a:xfrm>
            <a:off x="5575300" y="1699096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14"/>
          </p:nvPr>
        </p:nvSpPr>
        <p:spPr>
          <a:xfrm>
            <a:off x="5575300" y="2781754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15"/>
          </p:nvPr>
        </p:nvSpPr>
        <p:spPr>
          <a:xfrm>
            <a:off x="5575300" y="3864413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grpSp>
        <p:nvGrpSpPr>
          <p:cNvPr id="118" name="Google Shape;118;p13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119" name="Google Shape;119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" name="Google Shape;120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1" name="Google Shape;121;p13"/>
          <p:cNvGrpSpPr/>
          <p:nvPr/>
        </p:nvGrpSpPr>
        <p:grpSpPr>
          <a:xfrm flipH="1">
            <a:off x="0" y="0"/>
            <a:ext cx="9144000" cy="5143512"/>
            <a:chOff x="0" y="0"/>
            <a:chExt cx="9144000" cy="5143512"/>
          </a:xfrm>
        </p:grpSpPr>
        <p:pic>
          <p:nvPicPr>
            <p:cNvPr id="122" name="Google Shape;122;p1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3" name="Google Shape;123;p1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3835425" y="801507"/>
            <a:ext cx="4089300" cy="105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4"/>
          <p:cNvSpPr txBox="1">
            <a:spLocks noGrp="1"/>
          </p:cNvSpPr>
          <p:nvPr>
            <p:ph type="subTitle" idx="1"/>
          </p:nvPr>
        </p:nvSpPr>
        <p:spPr>
          <a:xfrm>
            <a:off x="3835425" y="1898175"/>
            <a:ext cx="4089300" cy="21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9pPr>
          </a:lstStyle>
          <a:p>
            <a:endParaRPr/>
          </a:p>
        </p:txBody>
      </p:sp>
      <p:pic>
        <p:nvPicPr>
          <p:cNvPr id="128" name="Google Shape;128;p14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257665" y="461283"/>
            <a:ext cx="1768000" cy="10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7890675" y="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0" name="Google Shape;130;p14"/>
          <p:cNvGrpSpPr/>
          <p:nvPr/>
        </p:nvGrpSpPr>
        <p:grpSpPr>
          <a:xfrm>
            <a:off x="3881699" y="4752250"/>
            <a:ext cx="5260526" cy="388025"/>
            <a:chOff x="3881699" y="4752250"/>
            <a:chExt cx="5260526" cy="388025"/>
          </a:xfrm>
        </p:grpSpPr>
        <p:pic>
          <p:nvPicPr>
            <p:cNvPr id="131" name="Google Shape;131;p1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2" name="Google Shape;132;p1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ONE_COLUMN_TEXT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5"/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subTitle" idx="1"/>
          </p:nvPr>
        </p:nvSpPr>
        <p:spPr>
          <a:xfrm>
            <a:off x="713225" y="2109663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37" name="Google Shape;137;p15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138" name="Google Shape;13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 rotWithShape="1">
          <a:blip r:embed="rId4">
            <a:alphaModFix/>
          </a:blip>
          <a:srcRect t="129" b="129"/>
          <a:stretch/>
        </p:blipFill>
        <p:spPr>
          <a:xfrm rot="-5400000">
            <a:off x="7509601" y="3503753"/>
            <a:ext cx="1716695" cy="13079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0" y="0"/>
            <a:ext cx="5837899" cy="536050"/>
            <a:chOff x="0" y="0"/>
            <a:chExt cx="5837899" cy="536050"/>
          </a:xfrm>
        </p:grpSpPr>
        <p:pic>
          <p:nvPicPr>
            <p:cNvPr id="141" name="Google Shape;141;p15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" name="Google Shape;142;p15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3" name="Google Shape;143;p15"/>
          <p:cNvSpPr txBox="1">
            <a:spLocks noGrp="1"/>
          </p:cNvSpPr>
          <p:nvPr>
            <p:ph type="subTitle" idx="3"/>
          </p:nvPr>
        </p:nvSpPr>
        <p:spPr>
          <a:xfrm>
            <a:off x="713225" y="2109675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6"/>
          <p:cNvSpPr txBox="1">
            <a:spLocks noGrp="1"/>
          </p:cNvSpPr>
          <p:nvPr>
            <p:ph type="title"/>
          </p:nvPr>
        </p:nvSpPr>
        <p:spPr>
          <a:xfrm>
            <a:off x="6001375" y="539500"/>
            <a:ext cx="2429400" cy="107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16"/>
          <p:cNvSpPr txBox="1">
            <a:spLocks noGrp="1"/>
          </p:cNvSpPr>
          <p:nvPr>
            <p:ph type="subTitle" idx="1"/>
          </p:nvPr>
        </p:nvSpPr>
        <p:spPr>
          <a:xfrm>
            <a:off x="6001375" y="1515400"/>
            <a:ext cx="2429400" cy="12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16"/>
          <p:cNvSpPr>
            <a:spLocks noGrp="1"/>
          </p:cNvSpPr>
          <p:nvPr>
            <p:ph type="pic" idx="2"/>
          </p:nvPr>
        </p:nvSpPr>
        <p:spPr>
          <a:xfrm>
            <a:off x="713225" y="539500"/>
            <a:ext cx="2801100" cy="40647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49" name="Google Shape;149;p16"/>
          <p:cNvSpPr>
            <a:spLocks noGrp="1"/>
          </p:cNvSpPr>
          <p:nvPr>
            <p:ph type="pic" idx="3"/>
          </p:nvPr>
        </p:nvSpPr>
        <p:spPr>
          <a:xfrm>
            <a:off x="3595575" y="539500"/>
            <a:ext cx="2191200" cy="23283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50" name="Google Shape;150;p16"/>
          <p:cNvSpPr>
            <a:spLocks noGrp="1"/>
          </p:cNvSpPr>
          <p:nvPr>
            <p:ph type="pic" idx="4"/>
          </p:nvPr>
        </p:nvSpPr>
        <p:spPr>
          <a:xfrm>
            <a:off x="3595575" y="2953775"/>
            <a:ext cx="4835100" cy="16503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151" name="Google Shape;151;p16"/>
          <p:cNvPicPr preferRelativeResize="0"/>
          <p:nvPr/>
        </p:nvPicPr>
        <p:blipFill rotWithShape="1">
          <a:blip r:embed="rId3">
            <a:alphaModFix/>
          </a:blip>
          <a:srcRect l="73637" t="129" b="129"/>
          <a:stretch/>
        </p:blipFill>
        <p:spPr>
          <a:xfrm>
            <a:off x="10239" y="3372450"/>
            <a:ext cx="452574" cy="13079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2" name="Google Shape;152;p16"/>
          <p:cNvGrpSpPr/>
          <p:nvPr/>
        </p:nvGrpSpPr>
        <p:grpSpPr>
          <a:xfrm>
            <a:off x="-1" y="2100"/>
            <a:ext cx="9144001" cy="5141388"/>
            <a:chOff x="-1" y="2100"/>
            <a:chExt cx="9144001" cy="5141388"/>
          </a:xfrm>
        </p:grpSpPr>
        <p:pic>
          <p:nvPicPr>
            <p:cNvPr id="153" name="Google Shape;153;p1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4" name="Google Shape;154;p1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5" name="Google Shape;155;p16"/>
          <p:cNvGrpSpPr/>
          <p:nvPr/>
        </p:nvGrpSpPr>
        <p:grpSpPr>
          <a:xfrm>
            <a:off x="5356527" y="4752250"/>
            <a:ext cx="3785698" cy="388025"/>
            <a:chOff x="5356527" y="4752250"/>
            <a:chExt cx="3785698" cy="388025"/>
          </a:xfrm>
        </p:grpSpPr>
        <p:pic>
          <p:nvPicPr>
            <p:cNvPr id="156" name="Google Shape;156;p1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5356527" y="4752250"/>
              <a:ext cx="3785698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16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_AND_BODY_1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7"/>
          <p:cNvSpPr txBox="1">
            <a:spLocks noGrp="1"/>
          </p:cNvSpPr>
          <p:nvPr>
            <p:ph type="title"/>
          </p:nvPr>
        </p:nvSpPr>
        <p:spPr>
          <a:xfrm>
            <a:off x="720000" y="640080"/>
            <a:ext cx="3234900" cy="111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"/>
          </p:nvPr>
        </p:nvSpPr>
        <p:spPr>
          <a:xfrm>
            <a:off x="720000" y="2101875"/>
            <a:ext cx="3234900" cy="12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0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65" name="Google Shape;165;p18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166" name="Google Shape;166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7" name="Google Shape;167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8" name="Google Shape;168;p18"/>
          <p:cNvGrpSpPr/>
          <p:nvPr/>
        </p:nvGrpSpPr>
        <p:grpSpPr>
          <a:xfrm flipH="1">
            <a:off x="0" y="0"/>
            <a:ext cx="9144000" cy="5143512"/>
            <a:chOff x="0" y="0"/>
            <a:chExt cx="9144000" cy="5143512"/>
          </a:xfrm>
        </p:grpSpPr>
        <p:pic>
          <p:nvPicPr>
            <p:cNvPr id="169" name="Google Shape;169;p1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1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1" name="Google Shape;171;p18"/>
          <p:cNvSpPr txBox="1">
            <a:spLocks noGrp="1"/>
          </p:cNvSpPr>
          <p:nvPr>
            <p:ph type="body" idx="1"/>
          </p:nvPr>
        </p:nvSpPr>
        <p:spPr>
          <a:xfrm>
            <a:off x="2145600" y="2101875"/>
            <a:ext cx="4852800" cy="176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72" name="Google Shape;172;p18"/>
          <p:cNvSpPr txBox="1">
            <a:spLocks noGrp="1"/>
          </p:cNvSpPr>
          <p:nvPr>
            <p:ph type="subTitle" idx="2"/>
          </p:nvPr>
        </p:nvSpPr>
        <p:spPr>
          <a:xfrm>
            <a:off x="2145600" y="2101150"/>
            <a:ext cx="4852800" cy="176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 txBox="1">
            <a:spLocks noGrp="1"/>
          </p:cNvSpPr>
          <p:nvPr>
            <p:ph type="title"/>
          </p:nvPr>
        </p:nvSpPr>
        <p:spPr>
          <a:xfrm>
            <a:off x="720000" y="538492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19"/>
          <p:cNvSpPr txBox="1">
            <a:spLocks noGrp="1"/>
          </p:cNvSpPr>
          <p:nvPr>
            <p:ph type="subTitle" idx="1"/>
          </p:nvPr>
        </p:nvSpPr>
        <p:spPr>
          <a:xfrm>
            <a:off x="709750" y="2636600"/>
            <a:ext cx="2225700" cy="19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19"/>
          <p:cNvSpPr txBox="1">
            <a:spLocks noGrp="1"/>
          </p:cNvSpPr>
          <p:nvPr>
            <p:ph type="subTitle" idx="2"/>
          </p:nvPr>
        </p:nvSpPr>
        <p:spPr>
          <a:xfrm>
            <a:off x="3457413" y="2636600"/>
            <a:ext cx="2225700" cy="19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subTitle" idx="3"/>
          </p:nvPr>
        </p:nvSpPr>
        <p:spPr>
          <a:xfrm>
            <a:off x="6205076" y="2636600"/>
            <a:ext cx="2225700" cy="19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ubTitle" idx="4"/>
          </p:nvPr>
        </p:nvSpPr>
        <p:spPr>
          <a:xfrm>
            <a:off x="709758" y="2073291"/>
            <a:ext cx="22257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80" name="Google Shape;180;p19"/>
          <p:cNvSpPr txBox="1">
            <a:spLocks noGrp="1"/>
          </p:cNvSpPr>
          <p:nvPr>
            <p:ph type="subTitle" idx="5"/>
          </p:nvPr>
        </p:nvSpPr>
        <p:spPr>
          <a:xfrm>
            <a:off x="3459159" y="2073291"/>
            <a:ext cx="22257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81" name="Google Shape;181;p19"/>
          <p:cNvSpPr txBox="1">
            <a:spLocks noGrp="1"/>
          </p:cNvSpPr>
          <p:nvPr>
            <p:ph type="subTitle" idx="6"/>
          </p:nvPr>
        </p:nvSpPr>
        <p:spPr>
          <a:xfrm>
            <a:off x="6205085" y="2073291"/>
            <a:ext cx="2225700" cy="70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pic>
        <p:nvPicPr>
          <p:cNvPr id="182" name="Google Shape;18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8171200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3" name="Google Shape;183;p19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184" name="Google Shape;184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1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0"/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0"/>
          <p:cNvSpPr txBox="1">
            <a:spLocks noGrp="1"/>
          </p:cNvSpPr>
          <p:nvPr>
            <p:ph type="subTitle" idx="2"/>
          </p:nvPr>
        </p:nvSpPr>
        <p:spPr>
          <a:xfrm>
            <a:off x="4881166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20"/>
          <p:cNvSpPr txBox="1">
            <a:spLocks noGrp="1"/>
          </p:cNvSpPr>
          <p:nvPr>
            <p:ph type="subTitle" idx="3"/>
          </p:nvPr>
        </p:nvSpPr>
        <p:spPr>
          <a:xfrm>
            <a:off x="720000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0"/>
          <p:cNvSpPr txBox="1">
            <a:spLocks noGrp="1"/>
          </p:cNvSpPr>
          <p:nvPr>
            <p:ph type="subTitle" idx="4"/>
          </p:nvPr>
        </p:nvSpPr>
        <p:spPr>
          <a:xfrm>
            <a:off x="4881166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20"/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4" name="Google Shape;194;p20"/>
          <p:cNvSpPr txBox="1">
            <a:spLocks noGrp="1"/>
          </p:cNvSpPr>
          <p:nvPr>
            <p:ph type="subTitle" idx="6"/>
          </p:nvPr>
        </p:nvSpPr>
        <p:spPr>
          <a:xfrm>
            <a:off x="72000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5" name="Google Shape;195;p20"/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6" name="Google Shape;196;p20"/>
          <p:cNvSpPr txBox="1">
            <a:spLocks noGrp="1"/>
          </p:cNvSpPr>
          <p:nvPr>
            <p:ph type="subTitle" idx="8"/>
          </p:nvPr>
        </p:nvSpPr>
        <p:spPr>
          <a:xfrm>
            <a:off x="488113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grpSp>
        <p:nvGrpSpPr>
          <p:cNvPr id="197" name="Google Shape;197;p20"/>
          <p:cNvGrpSpPr/>
          <p:nvPr/>
        </p:nvGrpSpPr>
        <p:grpSpPr>
          <a:xfrm>
            <a:off x="-1" y="-4719"/>
            <a:ext cx="9144001" cy="5148207"/>
            <a:chOff x="-1" y="-4719"/>
            <a:chExt cx="9144001" cy="5148207"/>
          </a:xfrm>
        </p:grpSpPr>
        <p:pic>
          <p:nvPicPr>
            <p:cNvPr id="198" name="Google Shape;19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-4719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" name="Google Shape;199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00" name="Google Shape;200;p20"/>
          <p:cNvGrpSpPr/>
          <p:nvPr/>
        </p:nvGrpSpPr>
        <p:grpSpPr>
          <a:xfrm rot="10800000">
            <a:off x="0" y="-4719"/>
            <a:ext cx="4881173" cy="365700"/>
            <a:chOff x="4261050" y="4610675"/>
            <a:chExt cx="4881173" cy="365700"/>
          </a:xfrm>
        </p:grpSpPr>
        <p:pic>
          <p:nvPicPr>
            <p:cNvPr id="201" name="Google Shape;20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1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21"/>
          <p:cNvSpPr txBox="1">
            <a:spLocks noGrp="1"/>
          </p:cNvSpPr>
          <p:nvPr>
            <p:ph type="subTitle" idx="1"/>
          </p:nvPr>
        </p:nvSpPr>
        <p:spPr>
          <a:xfrm>
            <a:off x="720075" y="1682496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21"/>
          <p:cNvSpPr txBox="1">
            <a:spLocks noGrp="1"/>
          </p:cNvSpPr>
          <p:nvPr>
            <p:ph type="subTitle" idx="2"/>
          </p:nvPr>
        </p:nvSpPr>
        <p:spPr>
          <a:xfrm>
            <a:off x="3393880" y="1682496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21"/>
          <p:cNvSpPr txBox="1">
            <a:spLocks noGrp="1"/>
          </p:cNvSpPr>
          <p:nvPr>
            <p:ph type="subTitle" idx="3"/>
          </p:nvPr>
        </p:nvSpPr>
        <p:spPr>
          <a:xfrm>
            <a:off x="720075" y="3398557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21"/>
          <p:cNvSpPr txBox="1">
            <a:spLocks noGrp="1"/>
          </p:cNvSpPr>
          <p:nvPr>
            <p:ph type="subTitle" idx="4"/>
          </p:nvPr>
        </p:nvSpPr>
        <p:spPr>
          <a:xfrm>
            <a:off x="3393880" y="3398557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21"/>
          <p:cNvSpPr txBox="1">
            <a:spLocks noGrp="1"/>
          </p:cNvSpPr>
          <p:nvPr>
            <p:ph type="subTitle" idx="5"/>
          </p:nvPr>
        </p:nvSpPr>
        <p:spPr>
          <a:xfrm>
            <a:off x="6067686" y="1682496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21"/>
          <p:cNvSpPr txBox="1">
            <a:spLocks noGrp="1"/>
          </p:cNvSpPr>
          <p:nvPr>
            <p:ph type="subTitle" idx="6"/>
          </p:nvPr>
        </p:nvSpPr>
        <p:spPr>
          <a:xfrm>
            <a:off x="6067686" y="3398557"/>
            <a:ext cx="23631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21"/>
          <p:cNvSpPr txBox="1">
            <a:spLocks noGrp="1"/>
          </p:cNvSpPr>
          <p:nvPr>
            <p:ph type="subTitle" idx="7"/>
          </p:nvPr>
        </p:nvSpPr>
        <p:spPr>
          <a:xfrm>
            <a:off x="720075" y="1426464"/>
            <a:ext cx="2363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13" name="Google Shape;213;p21"/>
          <p:cNvSpPr txBox="1">
            <a:spLocks noGrp="1"/>
          </p:cNvSpPr>
          <p:nvPr>
            <p:ph type="subTitle" idx="8"/>
          </p:nvPr>
        </p:nvSpPr>
        <p:spPr>
          <a:xfrm>
            <a:off x="3395380" y="1426464"/>
            <a:ext cx="2360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14" name="Google Shape;214;p21"/>
          <p:cNvSpPr txBox="1">
            <a:spLocks noGrp="1"/>
          </p:cNvSpPr>
          <p:nvPr>
            <p:ph type="subTitle" idx="9"/>
          </p:nvPr>
        </p:nvSpPr>
        <p:spPr>
          <a:xfrm>
            <a:off x="6067686" y="1426464"/>
            <a:ext cx="2360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15" name="Google Shape;215;p21"/>
          <p:cNvSpPr txBox="1">
            <a:spLocks noGrp="1"/>
          </p:cNvSpPr>
          <p:nvPr>
            <p:ph type="subTitle" idx="13"/>
          </p:nvPr>
        </p:nvSpPr>
        <p:spPr>
          <a:xfrm>
            <a:off x="720075" y="3145536"/>
            <a:ext cx="2363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16" name="Google Shape;216;p21"/>
          <p:cNvSpPr txBox="1">
            <a:spLocks noGrp="1"/>
          </p:cNvSpPr>
          <p:nvPr>
            <p:ph type="subTitle" idx="14"/>
          </p:nvPr>
        </p:nvSpPr>
        <p:spPr>
          <a:xfrm>
            <a:off x="3393880" y="3145541"/>
            <a:ext cx="2360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17" name="Google Shape;217;p21"/>
          <p:cNvSpPr txBox="1">
            <a:spLocks noGrp="1"/>
          </p:cNvSpPr>
          <p:nvPr>
            <p:ph type="subTitle" idx="15"/>
          </p:nvPr>
        </p:nvSpPr>
        <p:spPr>
          <a:xfrm>
            <a:off x="6067686" y="3145541"/>
            <a:ext cx="2360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pic>
        <p:nvPicPr>
          <p:cNvPr id="218" name="Google Shape;218;p21"/>
          <p:cNvPicPr preferRelativeResize="0"/>
          <p:nvPr/>
        </p:nvPicPr>
        <p:blipFill rotWithShape="1">
          <a:blip r:embed="rId3">
            <a:alphaModFix/>
          </a:blip>
          <a:srcRect l="68148" b="22414"/>
          <a:stretch/>
        </p:blipFill>
        <p:spPr>
          <a:xfrm rot="10800000">
            <a:off x="8580849" y="64376"/>
            <a:ext cx="563126" cy="1047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81712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2"/>
          <p:cNvSpPr txBox="1">
            <a:spLocks noGrp="1"/>
          </p:cNvSpPr>
          <p:nvPr>
            <p:ph type="title" hasCustomPrompt="1"/>
          </p:nvPr>
        </p:nvSpPr>
        <p:spPr>
          <a:xfrm>
            <a:off x="3099888" y="2045129"/>
            <a:ext cx="29442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3" name="Google Shape;223;p22"/>
          <p:cNvSpPr txBox="1">
            <a:spLocks noGrp="1"/>
          </p:cNvSpPr>
          <p:nvPr>
            <p:ph type="subTitle" idx="1"/>
          </p:nvPr>
        </p:nvSpPr>
        <p:spPr>
          <a:xfrm>
            <a:off x="3099898" y="2737825"/>
            <a:ext cx="29442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24" name="Google Shape;224;p22"/>
          <p:cNvSpPr txBox="1">
            <a:spLocks noGrp="1"/>
          </p:cNvSpPr>
          <p:nvPr>
            <p:ph type="title" idx="2" hasCustomPrompt="1"/>
          </p:nvPr>
        </p:nvSpPr>
        <p:spPr>
          <a:xfrm>
            <a:off x="3099904" y="669938"/>
            <a:ext cx="29442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5" name="Google Shape;225;p22"/>
          <p:cNvSpPr txBox="1">
            <a:spLocks noGrp="1"/>
          </p:cNvSpPr>
          <p:nvPr>
            <p:ph type="subTitle" idx="3"/>
          </p:nvPr>
        </p:nvSpPr>
        <p:spPr>
          <a:xfrm>
            <a:off x="3099904" y="1362646"/>
            <a:ext cx="29442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226" name="Google Shape;226;p22"/>
          <p:cNvSpPr txBox="1">
            <a:spLocks noGrp="1"/>
          </p:cNvSpPr>
          <p:nvPr>
            <p:ph type="title" idx="4" hasCustomPrompt="1"/>
          </p:nvPr>
        </p:nvSpPr>
        <p:spPr>
          <a:xfrm>
            <a:off x="3099896" y="3420317"/>
            <a:ext cx="29442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7" name="Google Shape;227;p22"/>
          <p:cNvSpPr txBox="1">
            <a:spLocks noGrp="1"/>
          </p:cNvSpPr>
          <p:nvPr>
            <p:ph type="subTitle" idx="5"/>
          </p:nvPr>
        </p:nvSpPr>
        <p:spPr>
          <a:xfrm>
            <a:off x="3099906" y="4113013"/>
            <a:ext cx="29442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grpSp>
        <p:nvGrpSpPr>
          <p:cNvPr id="228" name="Google Shape;228;p22"/>
          <p:cNvGrpSpPr/>
          <p:nvPr/>
        </p:nvGrpSpPr>
        <p:grpSpPr>
          <a:xfrm>
            <a:off x="0" y="0"/>
            <a:ext cx="9149044" cy="5153909"/>
            <a:chOff x="0" y="0"/>
            <a:chExt cx="9149044" cy="5153909"/>
          </a:xfrm>
        </p:grpSpPr>
        <p:grpSp>
          <p:nvGrpSpPr>
            <p:cNvPr id="229" name="Google Shape;229;p22"/>
            <p:cNvGrpSpPr/>
            <p:nvPr/>
          </p:nvGrpSpPr>
          <p:grpSpPr>
            <a:xfrm>
              <a:off x="2633519" y="4796608"/>
              <a:ext cx="6515525" cy="357300"/>
              <a:chOff x="2633519" y="4796608"/>
              <a:chExt cx="6515525" cy="357300"/>
            </a:xfrm>
          </p:grpSpPr>
          <p:pic>
            <p:nvPicPr>
              <p:cNvPr id="230" name="Google Shape;230;p2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33519" y="4796608"/>
                <a:ext cx="6515525" cy="3573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1" name="Google Shape;231;p2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9407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32" name="Google Shape;232;p22"/>
            <p:cNvGrpSpPr/>
            <p:nvPr/>
          </p:nvGrpSpPr>
          <p:grpSpPr>
            <a:xfrm>
              <a:off x="0" y="0"/>
              <a:ext cx="6523526" cy="359400"/>
              <a:chOff x="0" y="0"/>
              <a:chExt cx="6523526" cy="359400"/>
            </a:xfrm>
          </p:grpSpPr>
          <p:pic>
            <p:nvPicPr>
              <p:cNvPr id="233" name="Google Shape;233;p2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359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4" name="Google Shape;234;p2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65125" y="1452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35" name="Google Shape;235;p22"/>
          <p:cNvPicPr preferRelativeResize="0"/>
          <p:nvPr/>
        </p:nvPicPr>
        <p:blipFill rotWithShape="1">
          <a:blip r:embed="rId6">
            <a:alphaModFix/>
          </a:blip>
          <a:srcRect t="129" b="129"/>
          <a:stretch/>
        </p:blipFill>
        <p:spPr>
          <a:xfrm rot="5400000">
            <a:off x="-128174" y="3562553"/>
            <a:ext cx="1716695" cy="13079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39" name="Google Shape;239;p23"/>
          <p:cNvGrpSpPr/>
          <p:nvPr/>
        </p:nvGrpSpPr>
        <p:grpSpPr>
          <a:xfrm>
            <a:off x="0" y="0"/>
            <a:ext cx="6523526" cy="369900"/>
            <a:chOff x="0" y="0"/>
            <a:chExt cx="6523526" cy="369900"/>
          </a:xfrm>
        </p:grpSpPr>
        <p:pic>
          <p:nvPicPr>
            <p:cNvPr id="240" name="Google Shape;240;p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1" name="Google Shape;241;p2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42" name="Google Shape;242;p23"/>
          <p:cNvGrpSpPr/>
          <p:nvPr/>
        </p:nvGrpSpPr>
        <p:grpSpPr>
          <a:xfrm>
            <a:off x="0" y="0"/>
            <a:ext cx="9144000" cy="5143512"/>
            <a:chOff x="0" y="0"/>
            <a:chExt cx="9144000" cy="5143512"/>
          </a:xfrm>
        </p:grpSpPr>
        <p:pic>
          <p:nvPicPr>
            <p:cNvPr id="243" name="Google Shape;243;p2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4" name="Google Shape;244;p2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2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246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pic>
        <p:nvPicPr>
          <p:cNvPr id="248" name="Google Shape;248;p24"/>
          <p:cNvPicPr preferRelativeResize="0"/>
          <p:nvPr/>
        </p:nvPicPr>
        <p:blipFill rotWithShape="1">
          <a:blip r:embed="rId3">
            <a:alphaModFix/>
          </a:blip>
          <a:srcRect l="14813" b="34262"/>
          <a:stretch/>
        </p:blipFill>
        <p:spPr>
          <a:xfrm rot="10800000">
            <a:off x="7654149" y="-40526"/>
            <a:ext cx="1506076" cy="8878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9" name="Google Shape;249;p24"/>
          <p:cNvGrpSpPr/>
          <p:nvPr/>
        </p:nvGrpSpPr>
        <p:grpSpPr>
          <a:xfrm flipH="1">
            <a:off x="0" y="0"/>
            <a:ext cx="9144000" cy="5143512"/>
            <a:chOff x="0" y="0"/>
            <a:chExt cx="9144000" cy="5143512"/>
          </a:xfrm>
        </p:grpSpPr>
        <p:pic>
          <p:nvPicPr>
            <p:cNvPr id="250" name="Google Shape;250;p2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1" name="Google Shape;251;p2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3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55" name="Google Shape;255;p25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256" name="Google Shape;256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8" name="Google Shape;258;p25"/>
          <p:cNvPicPr preferRelativeResize="0"/>
          <p:nvPr/>
        </p:nvPicPr>
        <p:blipFill rotWithShape="1">
          <a:blip r:embed="rId5">
            <a:alphaModFix/>
          </a:blip>
          <a:srcRect r="56111" b="41941"/>
          <a:stretch/>
        </p:blipFill>
        <p:spPr>
          <a:xfrm rot="-5400000">
            <a:off x="8325038" y="4266787"/>
            <a:ext cx="775950" cy="78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 flipH="1">
            <a:off x="0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_ONLY_4"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pic>
        <p:nvPicPr>
          <p:cNvPr id="263" name="Google Shape;263;p26"/>
          <p:cNvPicPr preferRelativeResize="0"/>
          <p:nvPr/>
        </p:nvPicPr>
        <p:blipFill rotWithShape="1">
          <a:blip r:embed="rId3">
            <a:alphaModFix/>
          </a:blip>
          <a:srcRect t="128" b="35496"/>
          <a:stretch/>
        </p:blipFill>
        <p:spPr>
          <a:xfrm>
            <a:off x="6296175" y="4293872"/>
            <a:ext cx="1716701" cy="844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6"/>
          <p:cNvGrpSpPr/>
          <p:nvPr/>
        </p:nvGrpSpPr>
        <p:grpSpPr>
          <a:xfrm>
            <a:off x="0" y="0"/>
            <a:ext cx="3789523" cy="359400"/>
            <a:chOff x="0" y="0"/>
            <a:chExt cx="3789523" cy="359400"/>
          </a:xfrm>
        </p:grpSpPr>
        <p:pic>
          <p:nvPicPr>
            <p:cNvPr id="265" name="Google Shape;265;p2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0"/>
              <a:ext cx="3789523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6" name="Google Shape;266;p2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65125" y="1452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67" name="Google Shape;267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0800000" flipH="1">
            <a:off x="81712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_ONLY_5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71" name="Google Shape;271;p27"/>
          <p:cNvGrpSpPr/>
          <p:nvPr/>
        </p:nvGrpSpPr>
        <p:grpSpPr>
          <a:xfrm rot="10800000" flipH="1">
            <a:off x="5131123" y="0"/>
            <a:ext cx="4012877" cy="359400"/>
            <a:chOff x="5129348" y="4780863"/>
            <a:chExt cx="4012877" cy="359400"/>
          </a:xfrm>
        </p:grpSpPr>
        <p:pic>
          <p:nvPicPr>
            <p:cNvPr id="272" name="Google Shape;272;p2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>
              <a:off x="5129348" y="4780863"/>
              <a:ext cx="4012877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3" name="Google Shape;273;p2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74" name="Google Shape;27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00">
            <a:off x="-25" y="0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_ONLY_6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8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78" name="Google Shape;278;p28"/>
          <p:cNvGrpSpPr/>
          <p:nvPr/>
        </p:nvGrpSpPr>
        <p:grpSpPr>
          <a:xfrm>
            <a:off x="0" y="12"/>
            <a:ext cx="9144000" cy="5143487"/>
            <a:chOff x="0" y="12"/>
            <a:chExt cx="9144000" cy="5143487"/>
          </a:xfrm>
        </p:grpSpPr>
        <p:pic>
          <p:nvPicPr>
            <p:cNvPr id="279" name="Google Shape;279;p2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 flipH="1">
              <a:off x="0" y="4170725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0" name="Google Shape;280;p2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-5400000" flipH="1">
              <a:off x="8171225" y="12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1" name="Google Shape;281;p28"/>
          <p:cNvGrpSpPr/>
          <p:nvPr/>
        </p:nvGrpSpPr>
        <p:grpSpPr>
          <a:xfrm rot="10800000">
            <a:off x="0" y="0"/>
            <a:ext cx="4012877" cy="359400"/>
            <a:chOff x="5129346" y="4780863"/>
            <a:chExt cx="4012877" cy="359400"/>
          </a:xfrm>
        </p:grpSpPr>
        <p:pic>
          <p:nvPicPr>
            <p:cNvPr id="282" name="Google Shape;282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5129346" y="4780863"/>
              <a:ext cx="4012877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3" name="Google Shape;283;p2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260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9"/>
          <p:cNvSpPr txBox="1">
            <a:spLocks noGrp="1"/>
          </p:cNvSpPr>
          <p:nvPr>
            <p:ph type="title"/>
          </p:nvPr>
        </p:nvSpPr>
        <p:spPr>
          <a:xfrm>
            <a:off x="713227" y="540000"/>
            <a:ext cx="41514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87" name="Google Shape;287;p29"/>
          <p:cNvSpPr txBox="1">
            <a:spLocks noGrp="1"/>
          </p:cNvSpPr>
          <p:nvPr>
            <p:ph type="subTitle" idx="1"/>
          </p:nvPr>
        </p:nvSpPr>
        <p:spPr>
          <a:xfrm>
            <a:off x="713213" y="2369350"/>
            <a:ext cx="36993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88" name="Google Shape;288;p29"/>
          <p:cNvSpPr>
            <a:spLocks noGrp="1"/>
          </p:cNvSpPr>
          <p:nvPr>
            <p:ph type="pic" idx="2"/>
          </p:nvPr>
        </p:nvSpPr>
        <p:spPr>
          <a:xfrm>
            <a:off x="713225" y="539550"/>
            <a:ext cx="30726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grpSp>
        <p:nvGrpSpPr>
          <p:cNvPr id="289" name="Google Shape;289;p29"/>
          <p:cNvGrpSpPr/>
          <p:nvPr/>
        </p:nvGrpSpPr>
        <p:grpSpPr>
          <a:xfrm>
            <a:off x="-6816" y="0"/>
            <a:ext cx="9150952" cy="5153913"/>
            <a:chOff x="-6816" y="0"/>
            <a:chExt cx="9150952" cy="5153913"/>
          </a:xfrm>
        </p:grpSpPr>
        <p:grpSp>
          <p:nvGrpSpPr>
            <p:cNvPr id="290" name="Google Shape;290;p29"/>
            <p:cNvGrpSpPr/>
            <p:nvPr/>
          </p:nvGrpSpPr>
          <p:grpSpPr>
            <a:xfrm flipH="1">
              <a:off x="5354613" y="0"/>
              <a:ext cx="3789523" cy="359400"/>
              <a:chOff x="0" y="0"/>
              <a:chExt cx="3789523" cy="359400"/>
            </a:xfrm>
          </p:grpSpPr>
          <p:pic>
            <p:nvPicPr>
              <p:cNvPr id="291" name="Google Shape;291;p29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0" y="0"/>
                <a:ext cx="3789523" cy="359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2" name="Google Shape;292;p29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65125" y="1452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93" name="Google Shape;293;p29"/>
            <p:cNvGrpSpPr/>
            <p:nvPr/>
          </p:nvGrpSpPr>
          <p:grpSpPr>
            <a:xfrm flipH="1">
              <a:off x="-6816" y="4765888"/>
              <a:ext cx="3785698" cy="388025"/>
              <a:chOff x="5363346" y="4765888"/>
              <a:chExt cx="3785698" cy="388025"/>
            </a:xfrm>
          </p:grpSpPr>
          <p:pic>
            <p:nvPicPr>
              <p:cNvPr id="294" name="Google Shape;294;p29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 rot="10800000">
                <a:off x="5363346" y="4765888"/>
                <a:ext cx="3785698" cy="3880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5" name="Google Shape;295;p29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300206" y="49254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96" name="Google Shape;296;p29"/>
          <p:cNvGrpSpPr/>
          <p:nvPr/>
        </p:nvGrpSpPr>
        <p:grpSpPr>
          <a:xfrm>
            <a:off x="0" y="-11538"/>
            <a:ext cx="9143999" cy="5155025"/>
            <a:chOff x="0" y="-11538"/>
            <a:chExt cx="9143999" cy="5155025"/>
          </a:xfrm>
        </p:grpSpPr>
        <p:pic>
          <p:nvPicPr>
            <p:cNvPr id="297" name="Google Shape;297;p2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flipH="1">
              <a:off x="0" y="-11538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8" name="Google Shape;298;p29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 flipH="1">
              <a:off x="8171224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9" name="Google Shape;299;p29"/>
          <p:cNvSpPr txBox="1"/>
          <p:nvPr/>
        </p:nvSpPr>
        <p:spPr>
          <a:xfrm>
            <a:off x="713224" y="3542325"/>
            <a:ext cx="3425400" cy="6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CREDITS:</a:t>
            </a:r>
            <a:r>
              <a:rPr lang="en"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This presentation template was created by </a:t>
            </a:r>
            <a:r>
              <a:rPr lang="en" sz="1000" b="1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8"/>
              </a:rPr>
              <a:t>Slidesgo</a:t>
            </a:r>
            <a:r>
              <a:rPr lang="en"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and includes icons, infographics &amp; images by </a:t>
            </a:r>
            <a:r>
              <a:rPr lang="en" sz="1000" b="1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000" b="1" u="sng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0"/>
          <p:cNvPicPr preferRelativeResize="0"/>
          <p:nvPr/>
        </p:nvPicPr>
        <p:blipFill rotWithShape="1">
          <a:blip r:embed="rId3">
            <a:alphaModFix/>
          </a:blip>
          <a:srcRect t="129" b="129"/>
          <a:stretch/>
        </p:blipFill>
        <p:spPr>
          <a:xfrm rot="-5400000">
            <a:off x="-145124" y="3582752"/>
            <a:ext cx="1716695" cy="1307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6088" y="-1365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5" name="Google Shape;305;p30"/>
          <p:cNvGrpSpPr/>
          <p:nvPr/>
        </p:nvGrpSpPr>
        <p:grpSpPr>
          <a:xfrm>
            <a:off x="0" y="-13638"/>
            <a:ext cx="8878852" cy="4923618"/>
            <a:chOff x="0" y="-13638"/>
            <a:chExt cx="8878852" cy="4923618"/>
          </a:xfrm>
        </p:grpSpPr>
        <p:pic>
          <p:nvPicPr>
            <p:cNvPr id="306" name="Google Shape;306;p3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07" name="Google Shape;307;p30"/>
            <p:cNvGrpSpPr/>
            <p:nvPr/>
          </p:nvGrpSpPr>
          <p:grpSpPr>
            <a:xfrm>
              <a:off x="0" y="-13638"/>
              <a:ext cx="6523526" cy="536050"/>
              <a:chOff x="0" y="-13638"/>
              <a:chExt cx="6523526" cy="536050"/>
            </a:xfrm>
          </p:grpSpPr>
          <p:pic>
            <p:nvPicPr>
              <p:cNvPr id="308" name="Google Shape;308;p3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0" y="-13638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09" name="Google Shape;309;p3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65125" y="2329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1"/>
          <p:cNvPicPr preferRelativeResize="0"/>
          <p:nvPr/>
        </p:nvPicPr>
        <p:blipFill rotWithShape="1">
          <a:blip r:embed="rId3">
            <a:alphaModFix/>
          </a:blip>
          <a:srcRect l="73637" t="129" b="129"/>
          <a:stretch/>
        </p:blipFill>
        <p:spPr>
          <a:xfrm>
            <a:off x="8632789" y="38875"/>
            <a:ext cx="452574" cy="13079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3" name="Google Shape;313;p31"/>
          <p:cNvGrpSpPr/>
          <p:nvPr/>
        </p:nvGrpSpPr>
        <p:grpSpPr>
          <a:xfrm>
            <a:off x="-26" y="-20456"/>
            <a:ext cx="972776" cy="5162894"/>
            <a:chOff x="-26" y="-20456"/>
            <a:chExt cx="972776" cy="5162894"/>
          </a:xfrm>
        </p:grpSpPr>
        <p:pic>
          <p:nvPicPr>
            <p:cNvPr id="314" name="Google Shape;314;p3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flipH="1">
              <a:off x="-25" y="-20456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5" name="Google Shape;315;p3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5400000" flipH="1">
              <a:off x="-26" y="416966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16" name="Google Shape;316;p31"/>
          <p:cNvGrpSpPr/>
          <p:nvPr/>
        </p:nvGrpSpPr>
        <p:grpSpPr>
          <a:xfrm rot="10800000">
            <a:off x="5368113" y="4784100"/>
            <a:ext cx="3789523" cy="359400"/>
            <a:chOff x="-13638" y="0"/>
            <a:chExt cx="3789523" cy="359400"/>
          </a:xfrm>
        </p:grpSpPr>
        <p:pic>
          <p:nvPicPr>
            <p:cNvPr id="317" name="Google Shape;317;p31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-13638" y="0"/>
              <a:ext cx="3789523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8" name="Google Shape;318;p31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265125" y="1452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4"/>
          <p:cNvSpPr txBox="1">
            <a:spLocks noGrp="1"/>
          </p:cNvSpPr>
          <p:nvPr>
            <p:ph type="title"/>
          </p:nvPr>
        </p:nvSpPr>
        <p:spPr>
          <a:xfrm>
            <a:off x="723450" y="511025"/>
            <a:ext cx="7697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2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321" name="Google Shape;321;p32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smaa-Khasawneh/HTU-QA-Final-Project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://www.linkedin.com/in/asmaa-khasawneh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/>
          <p:cNvSpPr txBox="1">
            <a:spLocks noGrp="1"/>
          </p:cNvSpPr>
          <p:nvPr>
            <p:ph type="ctrTitle"/>
          </p:nvPr>
        </p:nvSpPr>
        <p:spPr>
          <a:xfrm>
            <a:off x="95479" y="1412341"/>
            <a:ext cx="8945213" cy="107793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 sz="3200" b="0"/>
              <a:t>End-to-End Quality Assurance Testing for a Retail Web &amp; API System</a:t>
            </a:r>
            <a:endParaRPr lang="en-US" sz="3200"/>
          </a:p>
        </p:txBody>
      </p:sp>
      <p:sp>
        <p:nvSpPr>
          <p:cNvPr id="330" name="Google Shape;330;p35"/>
          <p:cNvSpPr txBox="1">
            <a:spLocks noGrp="1"/>
          </p:cNvSpPr>
          <p:nvPr>
            <p:ph type="subTitle" idx="1"/>
          </p:nvPr>
        </p:nvSpPr>
        <p:spPr>
          <a:xfrm>
            <a:off x="972300" y="2777305"/>
            <a:ext cx="7199400" cy="1251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cap="all"/>
              <a:t>Presented by: Asma Khasawneh</a:t>
            </a:r>
            <a:endParaRPr lang="en-US"/>
          </a:p>
          <a:p>
            <a:r>
              <a:rPr lang="en" cap="all"/>
              <a:t>Supervisor: </a:t>
            </a:r>
            <a:r>
              <a:rPr lang="en" cap="all" err="1"/>
              <a:t>eng.</a:t>
            </a:r>
            <a:r>
              <a:rPr lang="en" cap="all"/>
              <a:t> Ashraf smadi</a:t>
            </a:r>
          </a:p>
          <a:p>
            <a:r>
              <a:rPr lang="en" cap="all"/>
              <a:t>Software Testing – Quality Assurance Track</a:t>
            </a:r>
            <a:endParaRPr lang="en"/>
          </a:p>
          <a:p>
            <a:r>
              <a:rPr lang="en" cap="all"/>
              <a:t>11 February 2026</a:t>
            </a:r>
            <a:endParaRPr lang="en"/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345" name="Google Shape;345;p37"/>
          <p:cNvSpPr txBox="1">
            <a:spLocks noGrp="1"/>
          </p:cNvSpPr>
          <p:nvPr>
            <p:ph type="title" idx="2"/>
          </p:nvPr>
        </p:nvSpPr>
        <p:spPr>
          <a:xfrm>
            <a:off x="2287397" y="1354630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46" name="Google Shape;346;p37"/>
          <p:cNvSpPr txBox="1">
            <a:spLocks noGrp="1"/>
          </p:cNvSpPr>
          <p:nvPr>
            <p:ph type="title" idx="3"/>
          </p:nvPr>
        </p:nvSpPr>
        <p:spPr>
          <a:xfrm>
            <a:off x="5564754" y="1699211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347" name="Google Shape;347;p37"/>
          <p:cNvSpPr txBox="1">
            <a:spLocks noGrp="1"/>
          </p:cNvSpPr>
          <p:nvPr>
            <p:ph type="title" idx="4"/>
          </p:nvPr>
        </p:nvSpPr>
        <p:spPr>
          <a:xfrm>
            <a:off x="2287385" y="2225911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48" name="Google Shape;348;p37"/>
          <p:cNvSpPr txBox="1">
            <a:spLocks noGrp="1"/>
          </p:cNvSpPr>
          <p:nvPr>
            <p:ph type="title" idx="5"/>
          </p:nvPr>
        </p:nvSpPr>
        <p:spPr>
          <a:xfrm>
            <a:off x="5564743" y="2587302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349" name="Google Shape;349;p37"/>
          <p:cNvSpPr txBox="1">
            <a:spLocks noGrp="1"/>
          </p:cNvSpPr>
          <p:nvPr>
            <p:ph type="title" idx="6"/>
          </p:nvPr>
        </p:nvSpPr>
        <p:spPr>
          <a:xfrm>
            <a:off x="2287399" y="3128509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50" name="Google Shape;350;p37"/>
          <p:cNvSpPr txBox="1">
            <a:spLocks noGrp="1"/>
          </p:cNvSpPr>
          <p:nvPr>
            <p:ph type="title" idx="7"/>
          </p:nvPr>
        </p:nvSpPr>
        <p:spPr>
          <a:xfrm>
            <a:off x="5564757" y="3548730"/>
            <a:ext cx="6948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355" name="Google Shape;355;p37"/>
          <p:cNvSpPr txBox="1">
            <a:spLocks noGrp="1"/>
          </p:cNvSpPr>
          <p:nvPr>
            <p:ph type="subTitle" idx="14"/>
          </p:nvPr>
        </p:nvSpPr>
        <p:spPr>
          <a:xfrm>
            <a:off x="6262159" y="1701499"/>
            <a:ext cx="2288100" cy="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 b="0"/>
              <a:t>Performance Testing</a:t>
            </a:r>
            <a:endParaRPr lang="en-US"/>
          </a:p>
        </p:txBody>
      </p:sp>
      <p:pic>
        <p:nvPicPr>
          <p:cNvPr id="357" name="Google Shape;35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200" y="3712050"/>
            <a:ext cx="1768000" cy="13505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Subtitle 6">
            <a:extLst>
              <a:ext uri="{FF2B5EF4-FFF2-40B4-BE49-F238E27FC236}">
                <a16:creationId xmlns:a16="http://schemas.microsoft.com/office/drawing/2014/main" id="{7E479674-99D6-6759-576A-458D26F5D285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2983979" y="1354630"/>
            <a:ext cx="2288100" cy="694800"/>
          </a:xfrm>
        </p:spPr>
        <p:txBody>
          <a:bodyPr/>
          <a:lstStyle/>
          <a:p>
            <a:r>
              <a:rPr lang="en-US" b="0"/>
              <a:t>Test Planning &amp; Strategy</a:t>
            </a:r>
            <a:endParaRPr lang="en-US"/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921F0158-2967-C30A-AE79-2A84A3FEFED8}"/>
              </a:ext>
            </a:extLst>
          </p:cNvPr>
          <p:cNvSpPr>
            <a:spLocks noGrp="1"/>
          </p:cNvSpPr>
          <p:nvPr>
            <p:ph type="subTitle" idx="15"/>
          </p:nvPr>
        </p:nvSpPr>
        <p:spPr>
          <a:xfrm>
            <a:off x="2983978" y="2236029"/>
            <a:ext cx="2288100" cy="694800"/>
          </a:xfrm>
        </p:spPr>
        <p:txBody>
          <a:bodyPr/>
          <a:lstStyle/>
          <a:p>
            <a:r>
              <a:rPr lang="en-US" b="0"/>
              <a:t>Manual Testing</a:t>
            </a:r>
            <a:endParaRPr lang="en-US"/>
          </a:p>
        </p:txBody>
      </p:sp>
      <p:sp>
        <p:nvSpPr>
          <p:cNvPr id="12" name="Subtitle 8">
            <a:extLst>
              <a:ext uri="{FF2B5EF4-FFF2-40B4-BE49-F238E27FC236}">
                <a16:creationId xmlns:a16="http://schemas.microsoft.com/office/drawing/2014/main" id="{DED130AD-C46E-EE0D-DA08-CEA61411E4AE}"/>
              </a:ext>
            </a:extLst>
          </p:cNvPr>
          <p:cNvSpPr txBox="1">
            <a:spLocks/>
          </p:cNvSpPr>
          <p:nvPr/>
        </p:nvSpPr>
        <p:spPr>
          <a:xfrm>
            <a:off x="6260862" y="3553533"/>
            <a:ext cx="2288100" cy="6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18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en-US" b="0"/>
              <a:t>Mobile Testing</a:t>
            </a:r>
            <a:endParaRPr lang="en-US"/>
          </a:p>
        </p:txBody>
      </p:sp>
      <p:sp>
        <p:nvSpPr>
          <p:cNvPr id="14" name="Subtitle 8">
            <a:extLst>
              <a:ext uri="{FF2B5EF4-FFF2-40B4-BE49-F238E27FC236}">
                <a16:creationId xmlns:a16="http://schemas.microsoft.com/office/drawing/2014/main" id="{9F6EF357-7AC2-7976-6301-B99E90BDD4F3}"/>
              </a:ext>
            </a:extLst>
          </p:cNvPr>
          <p:cNvSpPr txBox="1">
            <a:spLocks/>
          </p:cNvSpPr>
          <p:nvPr/>
        </p:nvSpPr>
        <p:spPr>
          <a:xfrm>
            <a:off x="2983456" y="3127987"/>
            <a:ext cx="2288100" cy="6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18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en-US" b="0"/>
              <a:t>API Testing</a:t>
            </a:r>
            <a:endParaRPr lang="en-US"/>
          </a:p>
        </p:txBody>
      </p:sp>
      <p:sp>
        <p:nvSpPr>
          <p:cNvPr id="16" name="Subtitle 8">
            <a:extLst>
              <a:ext uri="{FF2B5EF4-FFF2-40B4-BE49-F238E27FC236}">
                <a16:creationId xmlns:a16="http://schemas.microsoft.com/office/drawing/2014/main" id="{47E9AE12-2760-0257-AE18-D328DC23E5FC}"/>
              </a:ext>
            </a:extLst>
          </p:cNvPr>
          <p:cNvSpPr txBox="1">
            <a:spLocks/>
          </p:cNvSpPr>
          <p:nvPr/>
        </p:nvSpPr>
        <p:spPr>
          <a:xfrm>
            <a:off x="6260340" y="2568084"/>
            <a:ext cx="2775556" cy="720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18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en-US" b="0"/>
              <a:t>UI Automation Testing</a:t>
            </a:r>
            <a:endParaRPr lang="en-US"/>
          </a:p>
        </p:txBody>
      </p:sp>
      <p:sp>
        <p:nvSpPr>
          <p:cNvPr id="3" name="Google Shape;346;p37">
            <a:extLst>
              <a:ext uri="{FF2B5EF4-FFF2-40B4-BE49-F238E27FC236}">
                <a16:creationId xmlns:a16="http://schemas.microsoft.com/office/drawing/2014/main" id="{C267CEBB-D16E-542C-D23C-530B35529759}"/>
              </a:ext>
            </a:extLst>
          </p:cNvPr>
          <p:cNvSpPr txBox="1">
            <a:spLocks/>
          </p:cNvSpPr>
          <p:nvPr/>
        </p:nvSpPr>
        <p:spPr>
          <a:xfrm>
            <a:off x="2288154" y="4036758"/>
            <a:ext cx="694800" cy="694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en"/>
              <a:t>04</a:t>
            </a:r>
          </a:p>
        </p:txBody>
      </p:sp>
      <p:sp>
        <p:nvSpPr>
          <p:cNvPr id="5" name="Google Shape;355;p37">
            <a:extLst>
              <a:ext uri="{FF2B5EF4-FFF2-40B4-BE49-F238E27FC236}">
                <a16:creationId xmlns:a16="http://schemas.microsoft.com/office/drawing/2014/main" id="{96E571C7-7BD7-AFD4-CDA0-8EAA5B8B5004}"/>
              </a:ext>
            </a:extLst>
          </p:cNvPr>
          <p:cNvSpPr txBox="1">
            <a:spLocks/>
          </p:cNvSpPr>
          <p:nvPr/>
        </p:nvSpPr>
        <p:spPr>
          <a:xfrm>
            <a:off x="3195669" y="4039046"/>
            <a:ext cx="2288100" cy="6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18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oppins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en" b="0"/>
              <a:t>Newman Report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8"/>
          <p:cNvSpPr txBox="1">
            <a:spLocks noGrp="1"/>
          </p:cNvSpPr>
          <p:nvPr>
            <p:ph type="title"/>
          </p:nvPr>
        </p:nvSpPr>
        <p:spPr>
          <a:xfrm>
            <a:off x="-1150" y="693383"/>
            <a:ext cx="6118556" cy="59195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600"/>
              <a:t>Test Planning &amp; Strategy</a:t>
            </a:r>
          </a:p>
        </p:txBody>
      </p:sp>
      <p:sp>
        <p:nvSpPr>
          <p:cNvPr id="364" name="Google Shape;364;p38"/>
          <p:cNvSpPr txBox="1">
            <a:spLocks noGrp="1"/>
          </p:cNvSpPr>
          <p:nvPr>
            <p:ph type="subTitle" idx="3"/>
          </p:nvPr>
        </p:nvSpPr>
        <p:spPr>
          <a:xfrm>
            <a:off x="-1150" y="1277638"/>
            <a:ext cx="8959248" cy="8814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buNone/>
            </a:pPr>
            <a:r>
              <a:rPr lang="en" sz="1400" b="1">
                <a:solidFill>
                  <a:schemeClr val="tx2">
                    <a:lumMod val="25000"/>
                  </a:schemeClr>
                </a:solidFill>
              </a:rPr>
              <a:t>At the beginning of the project, a test plan was created to define the overall testing approach for the </a:t>
            </a:r>
            <a:r>
              <a:rPr lang="en" sz="1400" b="1" err="1">
                <a:solidFill>
                  <a:schemeClr val="tx2">
                    <a:lumMod val="25000"/>
                  </a:schemeClr>
                </a:solidFill>
              </a:rPr>
              <a:t>SauceDemo</a:t>
            </a:r>
            <a:r>
              <a:rPr lang="en" sz="1400" b="1">
                <a:solidFill>
                  <a:schemeClr val="tx2">
                    <a:lumMod val="25000"/>
                  </a:schemeClr>
                </a:solidFill>
              </a:rPr>
              <a:t> application. This test plan outlines the key components that guided the execution of all testing activities and supported the remaining phases of the project.</a:t>
            </a:r>
            <a:endParaRPr lang="en-US" sz="1400">
              <a:solidFill>
                <a:schemeClr val="tx2">
                  <a:lumMod val="25000"/>
                </a:schemeClr>
              </a:solidFill>
            </a:endParaRPr>
          </a:p>
          <a:p>
            <a:pPr marL="228600" lvl="0" indent="-228600" algn="ctr">
              <a:spcBef>
                <a:spcPts val="0"/>
              </a:spcBef>
              <a:spcAft>
                <a:spcPts val="0"/>
              </a:spcAft>
              <a:buSzPts val="1100"/>
            </a:pPr>
            <a:endParaRPr lang="e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4A485B-A9DF-9080-6069-491B43AC27EF}"/>
              </a:ext>
            </a:extLst>
          </p:cNvPr>
          <p:cNvSpPr txBox="1"/>
          <p:nvPr/>
        </p:nvSpPr>
        <p:spPr>
          <a:xfrm>
            <a:off x="193301" y="2437279"/>
            <a:ext cx="6984066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chemeClr val="tx2">
                    <a:lumMod val="25000"/>
                  </a:schemeClr>
                </a:solidFill>
                <a:latin typeface="Roboto Medium"/>
                <a:ea typeface="YAEnS5hmfWI_0"/>
                <a:cs typeface="YAEnS5hmfWI_0"/>
              </a:rPr>
              <a:t>Key Test Plan Components:</a:t>
            </a:r>
          </a:p>
          <a:p>
            <a:r>
              <a:rPr lang="en-US" sz="2000">
                <a:solidFill>
                  <a:schemeClr val="tx1">
                    <a:lumMod val="76000"/>
                    <a:lumOff val="24000"/>
                  </a:schemeClr>
                </a:solidFill>
                <a:latin typeface="YAEnS5hmfWI_0"/>
                <a:ea typeface="YAEnS5hmfWI_0"/>
                <a:cs typeface="YAEnS5hmfWI_0"/>
              </a:rPr>
              <a:t>System Under Test                    Test Scenarios</a:t>
            </a:r>
          </a:p>
          <a:p>
            <a:r>
              <a:rPr lang="en-US" sz="2000">
                <a:solidFill>
                  <a:schemeClr val="tx1">
                    <a:lumMod val="76000"/>
                    <a:lumOff val="24000"/>
                  </a:schemeClr>
                </a:solidFill>
                <a:latin typeface="YAEnS5hmfWI_0"/>
                <a:ea typeface="YAEnS5hmfWI_0"/>
                <a:cs typeface="YAEnS5hmfWI_0"/>
              </a:rPr>
              <a:t>Test Scope                                   Test Objectives</a:t>
            </a:r>
          </a:p>
          <a:p>
            <a:r>
              <a:rPr lang="en-US" sz="2000">
                <a:solidFill>
                  <a:schemeClr val="tx1">
                    <a:lumMod val="76000"/>
                    <a:lumOff val="24000"/>
                  </a:schemeClr>
                </a:solidFill>
                <a:latin typeface="YAEnS5hmfWI_0"/>
                <a:ea typeface="YAEnS5hmfWI_0"/>
                <a:cs typeface="YAEnS5hmfWI_0"/>
              </a:rPr>
              <a:t>Test Environment                       Entry and Exit Criteria</a:t>
            </a:r>
          </a:p>
          <a:p>
            <a:r>
              <a:rPr lang="en-US" sz="2000">
                <a:solidFill>
                  <a:schemeClr val="tx1">
                    <a:lumMod val="76000"/>
                    <a:lumOff val="24000"/>
                  </a:schemeClr>
                </a:solidFill>
                <a:latin typeface="YAEnS5hmfWI_0"/>
                <a:ea typeface="YAEnS5hmfWI_0"/>
                <a:cs typeface="YAEnS5hmfWI_0"/>
              </a:rPr>
              <a:t>Risks and Mitigation                  Plan Deliverables</a:t>
            </a:r>
          </a:p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90F0AB1-BBFF-10E8-E391-2E51BE48E9CF}"/>
              </a:ext>
            </a:extLst>
          </p:cNvPr>
          <p:cNvGrpSpPr/>
          <p:nvPr/>
        </p:nvGrpSpPr>
        <p:grpSpPr>
          <a:xfrm>
            <a:off x="6208021" y="2072828"/>
            <a:ext cx="2835185" cy="3003196"/>
            <a:chOff x="6208021" y="2081232"/>
            <a:chExt cx="2835185" cy="30031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07666FB-E492-7666-5164-BA15083274F4}"/>
                </a:ext>
              </a:extLst>
            </p:cNvPr>
            <p:cNvSpPr/>
            <p:nvPr/>
          </p:nvSpPr>
          <p:spPr>
            <a:xfrm>
              <a:off x="6208021" y="2081232"/>
              <a:ext cx="2835185" cy="300319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Google Shape;362;p38" descr="A clipboard with a checklist and pencil&#10;&#10;AI-generated content may be incorrect.">
              <a:extLst>
                <a:ext uri="{FF2B5EF4-FFF2-40B4-BE49-F238E27FC236}">
                  <a16:creationId xmlns:a16="http://schemas.microsoft.com/office/drawing/2014/main" id="{21F06F7E-3773-9D43-E2B1-DD43F96457CE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/>
            <a:srcRect t="6457" b="6457"/>
            <a:stretch>
              <a:fillRect/>
            </a:stretch>
          </p:blipFill>
          <p:spPr>
            <a:xfrm>
              <a:off x="6280409" y="2157350"/>
              <a:ext cx="2690716" cy="2913014"/>
            </a:xfrm>
            <a:prstGeom prst="round2DiagRect">
              <a:avLst>
                <a:gd name="adj1" fmla="val 50000"/>
                <a:gd name="adj2" fmla="val 0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8650A2A5-74E4-2B6F-210E-3AD178A8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8">
            <a:extLst>
              <a:ext uri="{FF2B5EF4-FFF2-40B4-BE49-F238E27FC236}">
                <a16:creationId xmlns:a16="http://schemas.microsoft.com/office/drawing/2014/main" id="{19D7A221-F0F1-CA58-82F7-6701437694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535" y="693383"/>
            <a:ext cx="4378843" cy="59195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600"/>
              <a:t>Manual Testing</a:t>
            </a:r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2047A-031A-54C3-0532-08671021F7C4}"/>
              </a:ext>
            </a:extLst>
          </p:cNvPr>
          <p:cNvSpPr txBox="1"/>
          <p:nvPr/>
        </p:nvSpPr>
        <p:spPr>
          <a:xfrm>
            <a:off x="126067" y="1201831"/>
            <a:ext cx="7009277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schemeClr val="tx2">
                    <a:lumMod val="25000"/>
                  </a:schemeClr>
                </a:solidFill>
                <a:ea typeface="YAEnS5hmfWI_0"/>
              </a:rPr>
              <a:t>Manual Testing Highlights:</a:t>
            </a:r>
            <a:endParaRPr lang="en-US">
              <a:solidFill>
                <a:schemeClr val="tx2">
                  <a:lumMod val="25000"/>
                </a:schemeClr>
              </a:solidFill>
            </a:endParaRPr>
          </a:p>
          <a:p>
            <a:pPr marL="285750" indent="-285750">
              <a:buChar char="•"/>
            </a:pPr>
            <a:r>
              <a:rPr lang="en-US" sz="2000">
                <a:solidFill>
                  <a:schemeClr val="tx2">
                    <a:lumMod val="25000"/>
                  </a:schemeClr>
                </a:solidFill>
              </a:rPr>
              <a:t>Target: Web Application (</a:t>
            </a:r>
            <a:r>
              <a:rPr lang="en-US" sz="2000" err="1">
                <a:solidFill>
                  <a:schemeClr val="tx2">
                    <a:lumMod val="25000"/>
                  </a:schemeClr>
                </a:solidFill>
              </a:rPr>
              <a:t>SauceDemo</a:t>
            </a:r>
            <a:r>
              <a:rPr lang="en-US" sz="2000">
                <a:solidFill>
                  <a:schemeClr val="tx2">
                    <a:lumMod val="25000"/>
                  </a:schemeClr>
                </a:solidFill>
              </a:rPr>
              <a:t>)</a:t>
            </a:r>
            <a:endParaRPr lang="en-US">
              <a:solidFill>
                <a:schemeClr val="tx2">
                  <a:lumMod val="25000"/>
                </a:schemeClr>
              </a:solidFill>
            </a:endParaRPr>
          </a:p>
          <a:p>
            <a:pPr marL="285750" indent="-285750">
              <a:buChar char="•"/>
            </a:pPr>
            <a:r>
              <a:rPr lang="en-US" sz="2000">
                <a:solidFill>
                  <a:schemeClr val="tx2">
                    <a:lumMod val="25000"/>
                  </a:schemeClr>
                </a:solidFill>
                <a:ea typeface="YAEnS5hmfWI_0"/>
              </a:rPr>
              <a:t>Total Test Cases Executed: </a:t>
            </a:r>
            <a:r>
              <a:rPr lang="en-US" sz="2000" b="1">
                <a:solidFill>
                  <a:schemeClr val="tx2">
                    <a:lumMod val="25000"/>
                  </a:schemeClr>
                </a:solidFill>
                <a:ea typeface="YAEnS5hmfWI_0"/>
              </a:rPr>
              <a:t>59</a:t>
            </a:r>
            <a:r>
              <a:rPr lang="en-US" sz="2000">
                <a:solidFill>
                  <a:schemeClr val="tx2">
                    <a:lumMod val="25000"/>
                  </a:schemeClr>
                </a:solidFill>
                <a:ea typeface="YAEnS5hmfWI_0"/>
              </a:rPr>
              <a:t> Test Cases</a:t>
            </a:r>
            <a:endParaRPr lang="en-US">
              <a:solidFill>
                <a:schemeClr val="tx2">
                  <a:lumMod val="25000"/>
                </a:schemeClr>
              </a:solidFill>
            </a:endParaRPr>
          </a:p>
          <a:p>
            <a:pPr marL="285750" indent="-285750">
              <a:buChar char="•"/>
            </a:pPr>
            <a:r>
              <a:rPr lang="en-US" sz="2000">
                <a:solidFill>
                  <a:schemeClr val="tx2">
                    <a:lumMod val="25000"/>
                  </a:schemeClr>
                </a:solidFill>
                <a:ea typeface="YAEnS5hmfWI_0"/>
              </a:rPr>
              <a:t>Test Scenarios: Happy Paths and Negative Scenarios</a:t>
            </a:r>
            <a:endParaRPr lang="en-US">
              <a:solidFill>
                <a:schemeClr val="tx2">
                  <a:lumMod val="25000"/>
                </a:schemeClr>
              </a:solidFill>
            </a:endParaRPr>
          </a:p>
          <a:p>
            <a:pPr marL="285750" indent="-285750">
              <a:buChar char="•"/>
            </a:pPr>
            <a:r>
              <a:rPr lang="en-US" sz="2000">
                <a:solidFill>
                  <a:schemeClr val="tx2">
                    <a:lumMod val="25000"/>
                  </a:schemeClr>
                </a:solidFill>
                <a:ea typeface="YAEnS5hmfWI_0"/>
              </a:rPr>
              <a:t>Defects Identified: </a:t>
            </a:r>
            <a:r>
              <a:rPr lang="en-US" sz="2000" b="1">
                <a:solidFill>
                  <a:schemeClr val="tx2">
                    <a:lumMod val="25000"/>
                  </a:schemeClr>
                </a:solidFill>
                <a:ea typeface="YAEnS5hmfWI_0"/>
              </a:rPr>
              <a:t>22</a:t>
            </a:r>
            <a:r>
              <a:rPr lang="en-US" sz="2000">
                <a:solidFill>
                  <a:schemeClr val="tx2">
                    <a:lumMod val="25000"/>
                  </a:schemeClr>
                </a:solidFill>
                <a:ea typeface="YAEnS5hmfWI_0"/>
              </a:rPr>
              <a:t> Bug Reports</a:t>
            </a:r>
            <a:endParaRPr lang="en-US">
              <a:solidFill>
                <a:schemeClr val="tx2">
                  <a:lumMod val="25000"/>
                </a:schemeClr>
              </a:solidFill>
            </a:endParaRPr>
          </a:p>
          <a:p>
            <a:endParaRPr lang="en-US" sz="2000" b="1">
              <a:solidFill>
                <a:schemeClr val="tx2">
                  <a:lumMod val="25000"/>
                </a:schemeClr>
              </a:solidFill>
              <a:latin typeface="Roboto Medium"/>
            </a:endParaRPr>
          </a:p>
          <a:p>
            <a:pPr algn="ctr"/>
            <a:endParaRPr lang="en-US">
              <a:ea typeface="YAEnS5hmfWI_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E35AA0-302A-789D-F1F0-6DC93FF5A4D6}"/>
              </a:ext>
            </a:extLst>
          </p:cNvPr>
          <p:cNvSpPr/>
          <p:nvPr/>
        </p:nvSpPr>
        <p:spPr>
          <a:xfrm>
            <a:off x="-57" y="2885630"/>
            <a:ext cx="9139903" cy="2257647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pink and blu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9B6B06C0-A2FB-F7F1-6B49-6637D0A14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63" y="3043259"/>
            <a:ext cx="8917081" cy="611798"/>
          </a:xfrm>
          <a:prstGeom prst="rect">
            <a:avLst/>
          </a:prstGeom>
        </p:spPr>
      </p:pic>
      <p:pic>
        <p:nvPicPr>
          <p:cNvPr id="10" name="Picture 9" descr="A screenshot of a computer">
            <a:extLst>
              <a:ext uri="{FF2B5EF4-FFF2-40B4-BE49-F238E27FC236}">
                <a16:creationId xmlns:a16="http://schemas.microsoft.com/office/drawing/2014/main" id="{4526CD72-E4F2-1935-AEEC-BC63566916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669" y="4015228"/>
            <a:ext cx="8135471" cy="886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15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0"/>
          <p:cNvSpPr txBox="1">
            <a:spLocks noGrp="1"/>
          </p:cNvSpPr>
          <p:nvPr>
            <p:ph type="title"/>
          </p:nvPr>
        </p:nvSpPr>
        <p:spPr>
          <a:xfrm>
            <a:off x="720000" y="35161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4000"/>
              <a:t>API Testing</a:t>
            </a:r>
            <a:endParaRPr lang="en-US"/>
          </a:p>
        </p:txBody>
      </p:sp>
      <p:sp>
        <p:nvSpPr>
          <p:cNvPr id="378" name="Google Shape;378;p40"/>
          <p:cNvSpPr txBox="1">
            <a:spLocks noGrp="1"/>
          </p:cNvSpPr>
          <p:nvPr>
            <p:ph type="subTitle" idx="2"/>
          </p:nvPr>
        </p:nvSpPr>
        <p:spPr>
          <a:xfrm>
            <a:off x="518" y="1052095"/>
            <a:ext cx="9133177" cy="176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sz="1600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API testing was performed using Postman to validate backend </a:t>
            </a:r>
            <a:r>
              <a:rPr lang="en-US" sz="1600" err="1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functionalitiesand</a:t>
            </a:r>
            <a:r>
              <a:rPr lang="en-US" sz="1600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 ensure correct behavior across different business modules. All </a:t>
            </a:r>
            <a:r>
              <a:rPr lang="en-US" sz="1600" err="1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APIrequests</a:t>
            </a:r>
            <a:r>
              <a:rPr lang="en-US" sz="1600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 were organized within a single collection and structured into </a:t>
            </a:r>
            <a:r>
              <a:rPr lang="en-US" sz="1600" err="1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foldersbased</a:t>
            </a:r>
            <a:r>
              <a:rPr lang="en-US" sz="1600">
                <a:solidFill>
                  <a:schemeClr val="tx2">
                    <a:lumMod val="25000"/>
                  </a:schemeClr>
                </a:solidFill>
                <a:latin typeface="Arial"/>
                <a:cs typeface="Arial"/>
              </a:rPr>
              <a:t> on functionality to improve readability and maintainability</a:t>
            </a:r>
            <a:endParaRPr lang="en-US" sz="1600">
              <a:solidFill>
                <a:schemeClr val="tx2">
                  <a:lumMod val="25000"/>
                </a:schemeClr>
              </a:solidFill>
            </a:endParaRPr>
          </a:p>
        </p:txBody>
      </p: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BC2CF2CD-B97B-F2CA-9C4C-068CF378C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893" y="2005914"/>
            <a:ext cx="3690750" cy="2905348"/>
          </a:xfrm>
          <a:prstGeom prst="rect">
            <a:avLst/>
          </a:prstGeom>
        </p:spPr>
      </p:pic>
      <p:pic>
        <p:nvPicPr>
          <p:cNvPr id="4" name="Picture 3" descr="A screenshot of a computer">
            <a:extLst>
              <a:ext uri="{FF2B5EF4-FFF2-40B4-BE49-F238E27FC236}">
                <a16:creationId xmlns:a16="http://schemas.microsoft.com/office/drawing/2014/main" id="{0A25212D-CED6-8D36-9950-02EB28E100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237" y="2004741"/>
            <a:ext cx="4350147" cy="29036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>
          <a:extLst>
            <a:ext uri="{FF2B5EF4-FFF2-40B4-BE49-F238E27FC236}">
              <a16:creationId xmlns:a16="http://schemas.microsoft.com/office/drawing/2014/main" id="{8D924562-381C-FF3E-9FB0-AE2A64570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0">
            <a:extLst>
              <a:ext uri="{FF2B5EF4-FFF2-40B4-BE49-F238E27FC236}">
                <a16:creationId xmlns:a16="http://schemas.microsoft.com/office/drawing/2014/main" id="{A5569A0C-0BCF-9F14-5040-EC9E6B2167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5161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4000"/>
              <a:t>API Testing</a:t>
            </a:r>
            <a:endParaRPr lang="en-US"/>
          </a:p>
        </p:txBody>
      </p:sp>
      <p:sp>
        <p:nvSpPr>
          <p:cNvPr id="378" name="Google Shape;378;p40">
            <a:extLst>
              <a:ext uri="{FF2B5EF4-FFF2-40B4-BE49-F238E27FC236}">
                <a16:creationId xmlns:a16="http://schemas.microsoft.com/office/drawing/2014/main" id="{D92E5A0D-FFD4-37BC-0AAE-C8AD3D1902C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518" y="1022507"/>
            <a:ext cx="7376655" cy="103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chemeClr val="tx2">
                    <a:lumMod val="25000"/>
                  </a:schemeClr>
                </a:solidFill>
              </a:rPr>
              <a:t>Postman Testing Highlights:</a:t>
            </a:r>
          </a:p>
          <a:p>
            <a:pPr marL="285750" indent="-285750">
              <a:buFont typeface="Arial"/>
              <a:buChar char="•"/>
            </a:pPr>
            <a:r>
              <a:rPr lang="en-US" dirty="0">
                <a:solidFill>
                  <a:schemeClr val="tx2">
                    <a:lumMod val="25000"/>
                  </a:schemeClr>
                </a:solidFill>
              </a:rPr>
              <a:t>Total Requests: </a:t>
            </a:r>
            <a:r>
              <a:rPr lang="en-US" b="1" dirty="0">
                <a:solidFill>
                  <a:schemeClr val="tx2">
                    <a:lumMod val="25000"/>
                  </a:schemeClr>
                </a:solidFill>
              </a:rPr>
              <a:t>23</a:t>
            </a:r>
            <a:r>
              <a:rPr lang="en-US" dirty="0">
                <a:solidFill>
                  <a:schemeClr val="tx2">
                    <a:lumMod val="25000"/>
                  </a:schemeClr>
                </a:solidFill>
              </a:rPr>
              <a:t> API Requests</a:t>
            </a:r>
          </a:p>
          <a:p>
            <a:pPr marL="285750" indent="-285750">
              <a:buFont typeface="Arial"/>
              <a:buChar char="•"/>
            </a:pPr>
            <a:r>
              <a:rPr lang="en-US" dirty="0">
                <a:solidFill>
                  <a:schemeClr val="tx2">
                    <a:lumMod val="25000"/>
                  </a:schemeClr>
                </a:solidFill>
              </a:rPr>
              <a:t>Data-Driven Testing: CSV files used to support logic-based data-driven execution</a:t>
            </a:r>
          </a:p>
          <a:p>
            <a:pPr marL="285750" indent="-285750">
              <a:buFont typeface="Arial"/>
              <a:buChar char="•"/>
            </a:pPr>
            <a:r>
              <a:rPr lang="en-US" dirty="0">
                <a:solidFill>
                  <a:schemeClr val="tx2">
                    <a:lumMod val="25000"/>
                  </a:schemeClr>
                </a:solidFill>
              </a:rPr>
              <a:t>Dynamic Data Handling: Response values stored as environment variables for reuse</a:t>
            </a:r>
          </a:p>
          <a:p>
            <a:pPr marL="285750" indent="-285750">
              <a:buFont typeface="Arial"/>
              <a:buChar char="•"/>
            </a:pPr>
            <a:r>
              <a:rPr lang="en-US" dirty="0">
                <a:solidFill>
                  <a:schemeClr val="tx2">
                    <a:lumMod val="25000"/>
                  </a:schemeClr>
                </a:solidFill>
              </a:rPr>
              <a:t>Randomization: Random data generation applied where needed to increase test coverage</a:t>
            </a:r>
          </a:p>
          <a:p>
            <a:pPr marL="0" indent="0"/>
            <a:endParaRPr lang="en-US" sz="1600">
              <a:solidFill>
                <a:schemeClr val="tx2">
                  <a:lumMod val="25000"/>
                </a:schemeClr>
              </a:solidFill>
              <a:latin typeface="Arial"/>
              <a:cs typeface="Arial"/>
            </a:endParaRPr>
          </a:p>
        </p:txBody>
      </p:sp>
      <p:pic>
        <p:nvPicPr>
          <p:cNvPr id="2" name="Picture 1" descr="A screenshot of a computer">
            <a:extLst>
              <a:ext uri="{FF2B5EF4-FFF2-40B4-BE49-F238E27FC236}">
                <a16:creationId xmlns:a16="http://schemas.microsoft.com/office/drawing/2014/main" id="{7064E727-8402-65D4-75BF-27DEAEBA14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718" b="42555"/>
          <a:stretch>
            <a:fillRect/>
          </a:stretch>
        </p:blipFill>
        <p:spPr>
          <a:xfrm>
            <a:off x="6815979" y="638839"/>
            <a:ext cx="2187345" cy="1564331"/>
          </a:xfrm>
          <a:prstGeom prst="rect">
            <a:avLst/>
          </a:prstGeom>
        </p:spPr>
      </p:pic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535D31E-4029-76E3-ACAE-E6565B4212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718" r="32077" b="7692"/>
          <a:stretch>
            <a:fillRect/>
          </a:stretch>
        </p:blipFill>
        <p:spPr>
          <a:xfrm>
            <a:off x="840441" y="2350674"/>
            <a:ext cx="3731561" cy="2468159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796921-A464-0584-33CA-8D6D508104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565" y="2366683"/>
            <a:ext cx="3216649" cy="245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789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6"/>
          <p:cNvSpPr txBox="1">
            <a:spLocks noGrp="1"/>
          </p:cNvSpPr>
          <p:nvPr>
            <p:ph type="title"/>
          </p:nvPr>
        </p:nvSpPr>
        <p:spPr>
          <a:xfrm>
            <a:off x="-1683662" y="48066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200">
                <a:solidFill>
                  <a:srgbClr val="1B3655"/>
                </a:solidFill>
              </a:rPr>
              <a:t>Newman Report</a:t>
            </a:r>
            <a:endParaRPr lang="en-US" sz="3200">
              <a:solidFill>
                <a:srgbClr val="1B3655"/>
              </a:solidFill>
            </a:endParaRP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" sz="3200">
              <a:solidFill>
                <a:srgbClr val="1B3655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791AF7-2A37-7941-85CB-8552ECD4C5D1}"/>
              </a:ext>
            </a:extLst>
          </p:cNvPr>
          <p:cNvSpPr txBox="1"/>
          <p:nvPr/>
        </p:nvSpPr>
        <p:spPr>
          <a:xfrm>
            <a:off x="92449" y="1285875"/>
            <a:ext cx="5647764" cy="33547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The Postman collection was executed using Newman to automate API testing and generate execution reports.</a:t>
            </a:r>
            <a:endParaRPr lang="en-US" sz="1800">
              <a:solidFill>
                <a:schemeClr val="tx2">
                  <a:lumMod val="25000"/>
                </a:schemeClr>
              </a:solidFill>
            </a:endParaRPr>
          </a:p>
          <a:p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The Newman dashboard provided a clear summary of iterations,  assertions, and test results based on the data-driven execution.</a:t>
            </a:r>
          </a:p>
          <a:p>
            <a:endParaRPr lang="en-US" sz="1800">
              <a:solidFill>
                <a:schemeClr val="tx2">
                  <a:lumMod val="25000"/>
                </a:schemeClr>
              </a:solidFill>
              <a:latin typeface="YAFdJjTk5UU_0"/>
              <a:ea typeface="YAFdJjTk5UU_0"/>
              <a:cs typeface="YAFdJjTk5UU_0"/>
            </a:endParaRPr>
          </a:p>
          <a:p>
            <a:r>
              <a:rPr lang="en-US" sz="1800" b="1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Newman Report Highlights:</a:t>
            </a:r>
          </a:p>
          <a:p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Iterations: </a:t>
            </a:r>
            <a:r>
              <a:rPr lang="en-US" sz="1800" b="1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3</a:t>
            </a:r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 Iterations</a:t>
            </a:r>
          </a:p>
          <a:p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Total Assertions:</a:t>
            </a:r>
            <a:r>
              <a:rPr lang="en-US" sz="1800" b="1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 429 </a:t>
            </a:r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Assertions</a:t>
            </a:r>
          </a:p>
          <a:p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Failed Assertions: </a:t>
            </a:r>
            <a:r>
              <a:rPr lang="en-US" sz="1800" b="1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18</a:t>
            </a:r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 Assertions</a:t>
            </a:r>
          </a:p>
          <a:p>
            <a:r>
              <a:rPr lang="en-US" sz="1800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Skipped Tests:</a:t>
            </a:r>
            <a:r>
              <a:rPr lang="en-US" sz="1800" b="1">
                <a:solidFill>
                  <a:schemeClr val="tx2">
                    <a:lumMod val="25000"/>
                  </a:schemeClr>
                </a:solidFill>
                <a:latin typeface="YAFdJjTk5UU_0"/>
                <a:ea typeface="YAFdJjTk5UU_0"/>
                <a:cs typeface="YAFdJjTk5UU_0"/>
              </a:rPr>
              <a:t> 0</a:t>
            </a:r>
          </a:p>
          <a:p>
            <a:pPr algn="ctr"/>
            <a:endParaRPr lang="en-US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2CA6795-EF96-256E-3963-AA3B8AF10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0441" y="479050"/>
            <a:ext cx="3168009" cy="45804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1"/>
          <p:cNvSpPr/>
          <p:nvPr/>
        </p:nvSpPr>
        <p:spPr>
          <a:xfrm>
            <a:off x="372819" y="874087"/>
            <a:ext cx="1459741" cy="864757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4" name="Google Shape;384;p41"/>
          <p:cNvSpPr/>
          <p:nvPr/>
        </p:nvSpPr>
        <p:spPr>
          <a:xfrm>
            <a:off x="372820" y="2044638"/>
            <a:ext cx="1459742" cy="90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5" name="Google Shape;385;p41"/>
          <p:cNvSpPr txBox="1">
            <a:spLocks noGrp="1"/>
          </p:cNvSpPr>
          <p:nvPr>
            <p:ph type="subTitle" idx="4"/>
          </p:nvPr>
        </p:nvSpPr>
        <p:spPr>
          <a:xfrm>
            <a:off x="372235" y="2044638"/>
            <a:ext cx="1541400" cy="90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/>
              <a:t>Load Profiles:</a:t>
            </a:r>
            <a:endParaRPr lang="en-US"/>
          </a:p>
        </p:txBody>
      </p:sp>
      <p:sp>
        <p:nvSpPr>
          <p:cNvPr id="386" name="Google Shape;386;p41"/>
          <p:cNvSpPr txBox="1">
            <a:spLocks noGrp="1"/>
          </p:cNvSpPr>
          <p:nvPr>
            <p:ph type="title"/>
          </p:nvPr>
        </p:nvSpPr>
        <p:spPr>
          <a:xfrm>
            <a:off x="720000" y="32029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Performance Testing(k6)</a:t>
            </a:r>
            <a:endParaRPr lang="en-US"/>
          </a:p>
        </p:txBody>
      </p:sp>
      <p:sp>
        <p:nvSpPr>
          <p:cNvPr id="387" name="Google Shape;387;p41"/>
          <p:cNvSpPr txBox="1">
            <a:spLocks noGrp="1"/>
          </p:cNvSpPr>
          <p:nvPr>
            <p:ph type="subTitle" idx="1"/>
          </p:nvPr>
        </p:nvSpPr>
        <p:spPr>
          <a:xfrm>
            <a:off x="1831172" y="2044644"/>
            <a:ext cx="3683245" cy="90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>
              <a:buFont typeface="Arial"/>
              <a:buChar char="•"/>
            </a:pPr>
            <a:r>
              <a:rPr lang="en" b="1"/>
              <a:t>Smoke Test: Low virtual users for basic stability validation</a:t>
            </a:r>
            <a:endParaRPr lang="en-US" b="1"/>
          </a:p>
          <a:p>
            <a:pPr marL="285750" indent="-285750" algn="l">
              <a:buFont typeface="Arial"/>
              <a:buChar char="•"/>
            </a:pPr>
            <a:r>
              <a:rPr lang="en" b="1"/>
              <a:t>Load Test: Higher virtual users to simulate normal usage</a:t>
            </a:r>
            <a:endParaRPr lang="en-US" b="1"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" b="1"/>
          </a:p>
        </p:txBody>
      </p:sp>
      <p:sp>
        <p:nvSpPr>
          <p:cNvPr id="388" name="Google Shape;388;p41"/>
          <p:cNvSpPr txBox="1">
            <a:spLocks noGrp="1"/>
          </p:cNvSpPr>
          <p:nvPr>
            <p:ph type="subTitle" idx="2"/>
          </p:nvPr>
        </p:nvSpPr>
        <p:spPr>
          <a:xfrm>
            <a:off x="1831172" y="905403"/>
            <a:ext cx="2626361" cy="75515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buFont typeface="Arial"/>
              <a:buChar char="•"/>
            </a:pPr>
            <a:r>
              <a:rPr lang="en" b="1"/>
              <a:t>Cart-related API endpoints</a:t>
            </a:r>
            <a:endParaRPr lang="en-US" b="1"/>
          </a:p>
        </p:txBody>
      </p:sp>
      <p:sp>
        <p:nvSpPr>
          <p:cNvPr id="389" name="Google Shape;389;p41"/>
          <p:cNvSpPr txBox="1">
            <a:spLocks noGrp="1"/>
          </p:cNvSpPr>
          <p:nvPr>
            <p:ph type="subTitle" idx="3"/>
          </p:nvPr>
        </p:nvSpPr>
        <p:spPr>
          <a:xfrm>
            <a:off x="372233" y="905402"/>
            <a:ext cx="1463114" cy="76298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/>
              <a:t>Targeted Endpoints:</a:t>
            </a:r>
            <a:endParaRPr lang="en-US"/>
          </a:p>
        </p:txBody>
      </p:sp>
      <p:pic>
        <p:nvPicPr>
          <p:cNvPr id="2" name="Picture 1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52FA16B-CC6D-F9A3-55AC-2DAA9CF88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07" y="1017740"/>
            <a:ext cx="3341921" cy="372649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E89EC11-3751-BE41-4BC2-5A047EA0FE16}"/>
              </a:ext>
            </a:extLst>
          </p:cNvPr>
          <p:cNvSpPr txBox="1"/>
          <p:nvPr/>
        </p:nvSpPr>
        <p:spPr>
          <a:xfrm>
            <a:off x="1831931" y="3064962"/>
            <a:ext cx="3765637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b="1"/>
          </a:p>
          <a:p>
            <a:pPr marL="228600" lvl="1" indent="-228600">
              <a:buFont typeface=""/>
              <a:buChar char="•"/>
            </a:pPr>
            <a:r>
              <a:rPr lang="en-US" sz="1200" b="1">
                <a:solidFill>
                  <a:schemeClr val="tx2">
                    <a:lumMod val="25000"/>
                  </a:schemeClr>
                </a:solidFill>
                <a:latin typeface="Poppins"/>
              </a:rPr>
              <a:t>Virtual users and test duration configured per scenario</a:t>
            </a:r>
          </a:p>
          <a:p>
            <a:pPr marL="228600" lvl="1" indent="-228600">
              <a:buFont typeface=""/>
              <a:buChar char="•"/>
            </a:pPr>
            <a:r>
              <a:rPr lang="en-US" sz="1200" b="1">
                <a:solidFill>
                  <a:schemeClr val="tx2">
                    <a:lumMod val="25000"/>
                  </a:schemeClr>
                </a:solidFill>
                <a:latin typeface="Poppins"/>
              </a:rPr>
              <a:t>Thresholds defined for response time and error rate</a:t>
            </a:r>
          </a:p>
          <a:p>
            <a:pPr marL="228600" lvl="1" indent="-228600">
              <a:buFont typeface=""/>
              <a:buChar char="•"/>
            </a:pPr>
            <a:r>
              <a:rPr lang="en-US" sz="1200" b="1">
                <a:solidFill>
                  <a:schemeClr val="tx2">
                    <a:lumMod val="25000"/>
                  </a:schemeClr>
                </a:solidFill>
                <a:latin typeface="Poppins"/>
              </a:rPr>
              <a:t>check and sleep functions applied to validate responses and simulate realistic behavior</a:t>
            </a:r>
          </a:p>
          <a:p>
            <a:pPr algn="ctr"/>
            <a:endParaRPr lang="en-US"/>
          </a:p>
        </p:txBody>
      </p:sp>
      <p:sp>
        <p:nvSpPr>
          <p:cNvPr id="4" name="Google Shape;384;p41">
            <a:extLst>
              <a:ext uri="{FF2B5EF4-FFF2-40B4-BE49-F238E27FC236}">
                <a16:creationId xmlns:a16="http://schemas.microsoft.com/office/drawing/2014/main" id="{DE71F230-D0AB-FACE-2306-EF4EA6BBC78C}"/>
              </a:ext>
            </a:extLst>
          </p:cNvPr>
          <p:cNvSpPr/>
          <p:nvPr/>
        </p:nvSpPr>
        <p:spPr>
          <a:xfrm>
            <a:off x="372819" y="3250268"/>
            <a:ext cx="1459742" cy="90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BD03E6-0717-E29E-15D8-48A1AA1E2EAB}"/>
              </a:ext>
            </a:extLst>
          </p:cNvPr>
          <p:cNvSpPr txBox="1"/>
          <p:nvPr/>
        </p:nvSpPr>
        <p:spPr>
          <a:xfrm>
            <a:off x="328808" y="3362457"/>
            <a:ext cx="1628384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 algn="ctr" rtl="0"/>
            <a:r>
              <a:rPr lang="en-US" sz="1400" b="1" baseline="0">
                <a:solidFill>
                  <a:srgbClr val="202A41"/>
                </a:solidFill>
                <a:latin typeface="Poppins"/>
                <a:ea typeface="Arial"/>
                <a:cs typeface="Arial"/>
              </a:rPr>
              <a:t>Configuration &amp; Enhancements</a:t>
            </a:r>
            <a:r>
              <a:rPr lang="en-US" sz="1400" b="1">
                <a:solidFill>
                  <a:srgbClr val="202A41"/>
                </a:solidFill>
                <a:latin typeface="Poppins"/>
                <a:ea typeface="Arial"/>
                <a:cs typeface="Arial"/>
              </a:rPr>
              <a:t>​</a:t>
            </a:r>
            <a:endParaRPr lang="en-US" b="1">
              <a:latin typeface="Poppins"/>
            </a:endParaRPr>
          </a:p>
          <a:p>
            <a:pPr algn="ctr"/>
            <a:endParaRPr lang="en-US" b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B3990-305F-546F-5988-BB53BD0A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K6 Analysis 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C514EC85-79C0-4808-0462-C8B46CED5EE8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90398" y="827115"/>
            <a:ext cx="5604530" cy="2790632"/>
          </a:xfrm>
        </p:spPr>
        <p:txBody>
          <a:bodyPr/>
          <a:lstStyle/>
          <a:p>
            <a:pPr marL="285750" indent="-285750">
              <a:buFont typeface="Arial"/>
              <a:buChar char="•"/>
            </a:pPr>
            <a:endParaRPr lang="en-US"/>
          </a:p>
          <a:p>
            <a:pPr indent="0"/>
            <a:br>
              <a:rPr lang="en-US" dirty="0"/>
            </a:br>
            <a:endParaRPr lang="en-US" dirty="0"/>
          </a:p>
          <a:p>
            <a:pPr algn="l"/>
            <a:r>
              <a:rPr lang="en-US" dirty="0"/>
              <a:t> Analysis &amp; Conclusion</a:t>
            </a:r>
          </a:p>
          <a:p>
            <a:pPr marL="285750" indent="-285750" algn="l">
              <a:buFont typeface="Arial"/>
              <a:buChar char="•"/>
            </a:pPr>
            <a:r>
              <a:rPr lang="en-US" b="0" dirty="0"/>
              <a:t>The system remained stable under load</a:t>
            </a:r>
          </a:p>
          <a:p>
            <a:pPr marL="285750" indent="-285750" algn="l">
              <a:buFont typeface="Arial"/>
              <a:buChar char="•"/>
            </a:pPr>
            <a:r>
              <a:rPr lang="en-US" b="0" dirty="0"/>
              <a:t>No failed requests were detected</a:t>
            </a:r>
          </a:p>
          <a:p>
            <a:pPr marL="285750" indent="-285750" algn="l">
              <a:buFont typeface="Arial"/>
              <a:buChar char="•"/>
            </a:pPr>
            <a:r>
              <a:rPr lang="en-US" b="0" dirty="0"/>
              <a:t>Response times were acceptable and consistent</a:t>
            </a:r>
          </a:p>
          <a:p>
            <a:pPr marL="285750" indent="-285750" algn="l">
              <a:buFont typeface="Arial"/>
              <a:buChar char="•"/>
            </a:pPr>
            <a:r>
              <a:rPr lang="en-US" b="0" dirty="0"/>
              <a:t>The system meets the defined performance acceptance criteria</a:t>
            </a:r>
          </a:p>
          <a:p>
            <a:endParaRPr lang="en-US" dirty="0"/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E12AE73-42BB-2F70-6641-F6002B43A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3999" y="900308"/>
            <a:ext cx="3234488" cy="382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824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3"/>
          <p:cNvSpPr txBox="1">
            <a:spLocks noGrp="1"/>
          </p:cNvSpPr>
          <p:nvPr>
            <p:ph type="subTitle" idx="6"/>
          </p:nvPr>
        </p:nvSpPr>
        <p:spPr>
          <a:xfrm>
            <a:off x="72000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/>
              <a:t>Design Approach:</a:t>
            </a:r>
            <a:endParaRPr lang="en-US"/>
          </a:p>
        </p:txBody>
      </p:sp>
      <p:sp>
        <p:nvSpPr>
          <p:cNvPr id="444" name="Google Shape;444;p4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UI Automation Testing</a:t>
            </a:r>
            <a:endParaRPr lang="en-US"/>
          </a:p>
        </p:txBody>
      </p:sp>
      <p:sp>
        <p:nvSpPr>
          <p:cNvPr id="445" name="Google Shape;445;p43"/>
          <p:cNvSpPr txBox="1">
            <a:spLocks noGrp="1"/>
          </p:cNvSpPr>
          <p:nvPr>
            <p:ph type="subTitle" idx="1"/>
          </p:nvPr>
        </p:nvSpPr>
        <p:spPr>
          <a:xfrm>
            <a:off x="422507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Arial"/>
              <a:buChar char="•"/>
            </a:pPr>
            <a:r>
              <a:rPr lang="en"/>
              <a:t>Tests organized into separate classes based on functionality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"/>
              <a:t>User-related actions handled in dedicated classes</a:t>
            </a:r>
          </a:p>
          <a:p>
            <a:pPr marL="285750" indent="-285750">
              <a:buFont typeface="Arial"/>
              <a:buChar char="•"/>
            </a:pPr>
            <a:r>
              <a:rPr lang="en"/>
              <a:t>Test data separated into independent data classes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"/>
          </a:p>
        </p:txBody>
      </p:sp>
      <p:sp>
        <p:nvSpPr>
          <p:cNvPr id="447" name="Google Shape;447;p43"/>
          <p:cNvSpPr txBox="1">
            <a:spLocks noGrp="1"/>
          </p:cNvSpPr>
          <p:nvPr>
            <p:ph type="subTitle" idx="3"/>
          </p:nvPr>
        </p:nvSpPr>
        <p:spPr>
          <a:xfrm>
            <a:off x="422507" y="3396201"/>
            <a:ext cx="3549600" cy="14896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Arial"/>
              <a:buChar char="•"/>
            </a:pPr>
            <a:r>
              <a:rPr lang="en"/>
              <a:t>Inheritance applied to reduce duplication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"/>
              <a:t>Centralized base/source class for setup and configuration</a:t>
            </a:r>
          </a:p>
          <a:p>
            <a:pPr marL="285750" indent="-285750">
              <a:buFont typeface="Arial"/>
              <a:buChar char="•"/>
            </a:pPr>
            <a:r>
              <a:rPr lang="en"/>
              <a:t>Test suite used to manage and execute tests</a:t>
            </a:r>
          </a:p>
          <a:p>
            <a:pPr marL="285750" indent="-285750">
              <a:buFont typeface="Arial"/>
              <a:buChar char="•"/>
            </a:pPr>
            <a:r>
              <a:rPr lang="en"/>
              <a:t>Total Automated Tests: </a:t>
            </a:r>
            <a:r>
              <a:rPr lang="en" b="1"/>
              <a:t>22</a:t>
            </a:r>
            <a:r>
              <a:rPr lang="en"/>
              <a:t> UI Test Cases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"/>
          </a:p>
        </p:txBody>
      </p:sp>
      <p:sp>
        <p:nvSpPr>
          <p:cNvPr id="449" name="Google Shape;449;p43"/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/>
              <a:t>Framework Structure:</a:t>
            </a:r>
            <a:endParaRPr lang="en-US"/>
          </a:p>
        </p:txBody>
      </p:sp>
      <p:pic>
        <p:nvPicPr>
          <p:cNvPr id="14" name="Picture 1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07F2544-DFF8-7D3E-55C4-3905B6660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0424" y="1356726"/>
            <a:ext cx="2079974" cy="3573049"/>
          </a:xfrm>
          <a:prstGeom prst="rect">
            <a:avLst/>
          </a:prstGeom>
        </p:spPr>
      </p:pic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C556F98-B8E2-23D4-0738-BD5FC3019F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986" t="568" r="26035" b="-2467"/>
          <a:stretch>
            <a:fillRect/>
          </a:stretch>
        </p:blipFill>
        <p:spPr>
          <a:xfrm>
            <a:off x="6101020" y="2098056"/>
            <a:ext cx="2929135" cy="209751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6"/>
          <p:cNvSpPr txBox="1">
            <a:spLocks noGrp="1"/>
          </p:cNvSpPr>
          <p:nvPr>
            <p:ph type="title"/>
          </p:nvPr>
        </p:nvSpPr>
        <p:spPr>
          <a:xfrm>
            <a:off x="1842370" y="658991"/>
            <a:ext cx="3901335" cy="82449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 sz="3200"/>
              <a:t>Mobile Testing</a:t>
            </a:r>
            <a:endParaRPr lang="en-US" sz="3200"/>
          </a:p>
        </p:txBody>
      </p:sp>
      <p:sp>
        <p:nvSpPr>
          <p:cNvPr id="484" name="Google Shape;484;p46"/>
          <p:cNvSpPr txBox="1">
            <a:spLocks noGrp="1"/>
          </p:cNvSpPr>
          <p:nvPr>
            <p:ph type="subTitle" idx="1"/>
          </p:nvPr>
        </p:nvSpPr>
        <p:spPr>
          <a:xfrm>
            <a:off x="190500" y="1978785"/>
            <a:ext cx="5537547" cy="27405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en" b="1"/>
              <a:t>Mobile Testing Highlights:</a:t>
            </a:r>
            <a:endParaRPr lang="en-US" b="1"/>
          </a:p>
          <a:p>
            <a:pPr marL="285750" indent="-285750" algn="l">
              <a:buFont typeface="Arial"/>
              <a:buChar char="•"/>
            </a:pPr>
            <a:r>
              <a:rPr lang="en" b="1"/>
              <a:t>Platform: Android</a:t>
            </a:r>
          </a:p>
          <a:p>
            <a:pPr marL="285750" indent="-285750" algn="l">
              <a:buFont typeface="Arial"/>
              <a:buChar char="•"/>
            </a:pPr>
            <a:r>
              <a:rPr lang="en" b="1"/>
              <a:t>Tools: Android Studio, Appium</a:t>
            </a:r>
          </a:p>
          <a:p>
            <a:pPr marL="285750" indent="-285750" algn="l">
              <a:buFont typeface="Arial"/>
              <a:buChar char="•"/>
            </a:pPr>
            <a:r>
              <a:rPr lang="en" b="1"/>
              <a:t>Execution Environment: Android Emulator</a:t>
            </a:r>
          </a:p>
          <a:p>
            <a:pPr marL="285750" indent="-285750" algn="l">
              <a:buFont typeface="Arial"/>
              <a:buChar char="•"/>
            </a:pPr>
            <a:r>
              <a:rPr lang="en" b="1"/>
              <a:t>Test Coverage: Basic mobile system functionality</a:t>
            </a:r>
          </a:p>
          <a:p>
            <a:pPr marL="285750" indent="-285750" algn="l">
              <a:buFont typeface="Arial"/>
              <a:buChar char="•"/>
            </a:pPr>
            <a:r>
              <a:rPr lang="en" b="1"/>
              <a:t>Total Test Cases Executed: 3 Mobile Test Cases</a:t>
            </a:r>
          </a:p>
          <a:p>
            <a:pPr marL="285750" indent="-285750" algn="l">
              <a:buFont typeface="Arial"/>
              <a:buChar char="•"/>
            </a:pPr>
            <a:r>
              <a:rPr lang="en" b="1"/>
              <a:t>Testing Scope: Simple and targeted validation scenarios</a:t>
            </a: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"/>
          </a:p>
        </p:txBody>
      </p:sp>
      <p:pic>
        <p:nvPicPr>
          <p:cNvPr id="4" name="Picture 3" descr="A screenshot of a login page&#10;&#10;AI-generated content may be incorrect.">
            <a:extLst>
              <a:ext uri="{FF2B5EF4-FFF2-40B4-BE49-F238E27FC236}">
                <a16:creationId xmlns:a16="http://schemas.microsoft.com/office/drawing/2014/main" id="{AD0231FD-BA77-7ED7-6C6C-CBADC1DA6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768" y="781611"/>
            <a:ext cx="1813669" cy="39416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>
          <a:extLst>
            <a:ext uri="{FF2B5EF4-FFF2-40B4-BE49-F238E27FC236}">
              <a16:creationId xmlns:a16="http://schemas.microsoft.com/office/drawing/2014/main" id="{21ADC97E-DF85-88C9-380F-976E64BCA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6">
            <a:extLst>
              <a:ext uri="{FF2B5EF4-FFF2-40B4-BE49-F238E27FC236}">
                <a16:creationId xmlns:a16="http://schemas.microsoft.com/office/drawing/2014/main" id="{0B013F82-4757-6AE5-431B-E53648F19C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803" y="705330"/>
            <a:ext cx="5281249" cy="187050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l"/>
            <a:r>
              <a:rPr lang="en" sz="7200"/>
              <a:t>THANKS!</a:t>
            </a:r>
            <a:endParaRPr lang="en" sz="7200" b="0">
              <a:solidFill>
                <a:srgbClr val="000000"/>
              </a:solidFill>
            </a:endParaRPr>
          </a:p>
          <a:p>
            <a:endParaRPr lang="en" sz="32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9647B8-D3C4-625C-AAF4-8B0161774936}"/>
              </a:ext>
            </a:extLst>
          </p:cNvPr>
          <p:cNvSpPr txBox="1"/>
          <p:nvPr/>
        </p:nvSpPr>
        <p:spPr>
          <a:xfrm>
            <a:off x="579223" y="2123818"/>
            <a:ext cx="4572000" cy="12926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n-US" sz="1600" b="1" i="0" u="none" strike="noStrike" baseline="0">
                <a:solidFill>
                  <a:srgbClr val="202A41"/>
                </a:solidFill>
                <a:latin typeface="Poppins"/>
                <a:ea typeface="Segoe UI"/>
                <a:cs typeface="Segoe UI"/>
              </a:rPr>
              <a:t>Do you have any questions?</a:t>
            </a:r>
            <a:r>
              <a:rPr lang="en-US" sz="1600" b="0" i="0">
                <a:solidFill>
                  <a:srgbClr val="202A41"/>
                </a:solidFill>
                <a:latin typeface="Poppins"/>
                <a:ea typeface="Segoe UI"/>
                <a:cs typeface="Segoe UI"/>
              </a:rPr>
              <a:t>​</a:t>
            </a:r>
            <a:endParaRPr lang="en-US"/>
          </a:p>
          <a:p>
            <a:pPr algn="l" rtl="0"/>
            <a:r>
              <a:rPr lang="en-US" sz="1600" b="0" i="0" u="none" strike="noStrike" baseline="0">
                <a:solidFill>
                  <a:srgbClr val="202A41"/>
                </a:solidFill>
                <a:latin typeface="Poppins"/>
                <a:ea typeface="Segoe UI"/>
                <a:cs typeface="Segoe UI"/>
              </a:rPr>
              <a:t>Khasawnehasmaa@gmail.com</a:t>
            </a:r>
            <a:r>
              <a:rPr lang="en-US" sz="1600" b="0" i="0">
                <a:solidFill>
                  <a:srgbClr val="202A41"/>
                </a:solidFill>
                <a:latin typeface="Poppin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600" b="0" i="0" u="none" strike="noStrike" baseline="0">
                <a:solidFill>
                  <a:srgbClr val="202A41"/>
                </a:solidFill>
                <a:latin typeface="Poppins"/>
                <a:ea typeface="Segoe UI"/>
                <a:cs typeface="Segoe UI"/>
              </a:rPr>
              <a:t>+962 797248869</a:t>
            </a:r>
            <a:r>
              <a:rPr lang="en-US" sz="1600" b="0" i="0">
                <a:solidFill>
                  <a:srgbClr val="202A41"/>
                </a:solidFill>
                <a:latin typeface="Poppin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600" b="1" i="0" u="sng" strike="noStrike" baseline="0">
                <a:solidFill>
                  <a:srgbClr val="202A41"/>
                </a:solidFill>
                <a:latin typeface="Poppins"/>
                <a:ea typeface="Segoe UI"/>
                <a:cs typeface="Segoe UI"/>
                <a:hlinkClick r:id="rId3"/>
              </a:rPr>
              <a:t>Github</a:t>
            </a:r>
            <a:endParaRPr lang="en-US" sz="1600" b="1" i="0" u="sng" strike="noStrike" baseline="0">
              <a:solidFill>
                <a:srgbClr val="202A41"/>
              </a:solidFill>
              <a:latin typeface="Poppins"/>
              <a:ea typeface="Segoe UI"/>
              <a:cs typeface="Segoe UI"/>
            </a:endParaRPr>
          </a:p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297DD51-BD0A-EC18-C1F3-3AD9C31B7F74}"/>
              </a:ext>
            </a:extLst>
          </p:cNvPr>
          <p:cNvGrpSpPr/>
          <p:nvPr/>
        </p:nvGrpSpPr>
        <p:grpSpPr>
          <a:xfrm>
            <a:off x="579260" y="3412028"/>
            <a:ext cx="2069721" cy="994419"/>
            <a:chOff x="710550" y="1597130"/>
            <a:chExt cx="2069721" cy="994419"/>
          </a:xfrm>
        </p:grpSpPr>
        <p:sp>
          <p:nvSpPr>
            <p:cNvPr id="7" name="Google Shape;575;p55">
              <a:extLst>
                <a:ext uri="{FF2B5EF4-FFF2-40B4-BE49-F238E27FC236}">
                  <a16:creationId xmlns:a16="http://schemas.microsoft.com/office/drawing/2014/main" id="{28BC6E54-E41F-C440-CF17-C3108DAB1F48}"/>
                </a:ext>
              </a:extLst>
            </p:cNvPr>
            <p:cNvSpPr/>
            <p:nvPr/>
          </p:nvSpPr>
          <p:spPr>
            <a:xfrm>
              <a:off x="710550" y="1597130"/>
              <a:ext cx="542100" cy="542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8" name="Google Shape;584;p55">
              <a:extLst>
                <a:ext uri="{FF2B5EF4-FFF2-40B4-BE49-F238E27FC236}">
                  <a16:creationId xmlns:a16="http://schemas.microsoft.com/office/drawing/2014/main" id="{951A051A-0B56-006D-7F3F-43E651BCB9A0}"/>
                </a:ext>
              </a:extLst>
            </p:cNvPr>
            <p:cNvGrpSpPr/>
            <p:nvPr/>
          </p:nvGrpSpPr>
          <p:grpSpPr>
            <a:xfrm>
              <a:off x="818775" y="1705322"/>
              <a:ext cx="325717" cy="325707"/>
              <a:chOff x="1379798" y="1723250"/>
              <a:chExt cx="397887" cy="397887"/>
            </a:xfrm>
          </p:grpSpPr>
          <p:sp>
            <p:nvSpPr>
              <p:cNvPr id="10" name="Google Shape;585;p55">
                <a:extLst>
                  <a:ext uri="{FF2B5EF4-FFF2-40B4-BE49-F238E27FC236}">
                    <a16:creationId xmlns:a16="http://schemas.microsoft.com/office/drawing/2014/main" id="{8B74DA83-62E1-47DA-E401-063357BE0B4F}"/>
                  </a:ext>
                </a:extLst>
              </p:cNvPr>
              <p:cNvSpPr/>
              <p:nvPr/>
            </p:nvSpPr>
            <p:spPr>
              <a:xfrm>
                <a:off x="1462169" y="1793977"/>
                <a:ext cx="23354" cy="23312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1117" extrusionOk="0">
                    <a:moveTo>
                      <a:pt x="559" y="1"/>
                    </a:moveTo>
                    <a:cubicBezTo>
                      <a:pt x="251" y="1"/>
                      <a:pt x="0" y="250"/>
                      <a:pt x="0" y="558"/>
                    </a:cubicBezTo>
                    <a:cubicBezTo>
                      <a:pt x="0" y="866"/>
                      <a:pt x="251" y="1117"/>
                      <a:pt x="559" y="1117"/>
                    </a:cubicBezTo>
                    <a:cubicBezTo>
                      <a:pt x="867" y="1117"/>
                      <a:pt x="1118" y="866"/>
                      <a:pt x="1118" y="558"/>
                    </a:cubicBezTo>
                    <a:cubicBezTo>
                      <a:pt x="1118" y="250"/>
                      <a:pt x="867" y="1"/>
                      <a:pt x="5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586;p55">
                <a:extLst>
                  <a:ext uri="{FF2B5EF4-FFF2-40B4-BE49-F238E27FC236}">
                    <a16:creationId xmlns:a16="http://schemas.microsoft.com/office/drawing/2014/main" id="{2508EB8A-E04B-A6BC-1A31-564B42EA55F9}"/>
                  </a:ext>
                </a:extLst>
              </p:cNvPr>
              <p:cNvSpPr/>
              <p:nvPr/>
            </p:nvSpPr>
            <p:spPr>
              <a:xfrm>
                <a:off x="1379798" y="1723250"/>
                <a:ext cx="397887" cy="397887"/>
              </a:xfrm>
              <a:custGeom>
                <a:avLst/>
                <a:gdLst/>
                <a:ahLst/>
                <a:cxnLst/>
                <a:rect l="l" t="t" r="r" b="b"/>
                <a:pathLst>
                  <a:path w="19065" h="19065" extrusionOk="0">
                    <a:moveTo>
                      <a:pt x="4506" y="2271"/>
                    </a:moveTo>
                    <a:cubicBezTo>
                      <a:pt x="5429" y="2271"/>
                      <a:pt x="6181" y="3023"/>
                      <a:pt x="6181" y="3947"/>
                    </a:cubicBezTo>
                    <a:cubicBezTo>
                      <a:pt x="6181" y="4872"/>
                      <a:pt x="5429" y="5622"/>
                      <a:pt x="4506" y="5622"/>
                    </a:cubicBezTo>
                    <a:cubicBezTo>
                      <a:pt x="3583" y="5622"/>
                      <a:pt x="2831" y="4872"/>
                      <a:pt x="2831" y="3947"/>
                    </a:cubicBezTo>
                    <a:cubicBezTo>
                      <a:pt x="2831" y="3023"/>
                      <a:pt x="3583" y="2271"/>
                      <a:pt x="4506" y="2271"/>
                    </a:cubicBezTo>
                    <a:close/>
                    <a:moveTo>
                      <a:pt x="5622" y="6740"/>
                    </a:moveTo>
                    <a:cubicBezTo>
                      <a:pt x="5932" y="6740"/>
                      <a:pt x="6181" y="6989"/>
                      <a:pt x="6181" y="7299"/>
                    </a:cubicBezTo>
                    <a:lnTo>
                      <a:pt x="6181" y="16234"/>
                    </a:lnTo>
                    <a:cubicBezTo>
                      <a:pt x="6181" y="16544"/>
                      <a:pt x="5932" y="16793"/>
                      <a:pt x="5622" y="16793"/>
                    </a:cubicBezTo>
                    <a:lnTo>
                      <a:pt x="3388" y="16793"/>
                    </a:lnTo>
                    <a:cubicBezTo>
                      <a:pt x="3080" y="16793"/>
                      <a:pt x="2831" y="16544"/>
                      <a:pt x="2831" y="16234"/>
                    </a:cubicBezTo>
                    <a:lnTo>
                      <a:pt x="2831" y="7299"/>
                    </a:lnTo>
                    <a:cubicBezTo>
                      <a:pt x="2831" y="6989"/>
                      <a:pt x="3080" y="6740"/>
                      <a:pt x="3388" y="6740"/>
                    </a:cubicBezTo>
                    <a:close/>
                    <a:moveTo>
                      <a:pt x="12596" y="6721"/>
                    </a:moveTo>
                    <a:cubicBezTo>
                      <a:pt x="12811" y="6721"/>
                      <a:pt x="13027" y="6739"/>
                      <a:pt x="13241" y="6774"/>
                    </a:cubicBezTo>
                    <a:cubicBezTo>
                      <a:pt x="15058" y="7069"/>
                      <a:pt x="16235" y="8557"/>
                      <a:pt x="16235" y="10223"/>
                    </a:cubicBezTo>
                    <a:lnTo>
                      <a:pt x="16235" y="16234"/>
                    </a:lnTo>
                    <a:cubicBezTo>
                      <a:pt x="16235" y="16544"/>
                      <a:pt x="15985" y="16793"/>
                      <a:pt x="15676" y="16793"/>
                    </a:cubicBezTo>
                    <a:lnTo>
                      <a:pt x="13441" y="16793"/>
                    </a:lnTo>
                    <a:cubicBezTo>
                      <a:pt x="13133" y="16793"/>
                      <a:pt x="12884" y="16544"/>
                      <a:pt x="12884" y="16234"/>
                    </a:cubicBezTo>
                    <a:lnTo>
                      <a:pt x="12884" y="11209"/>
                    </a:lnTo>
                    <a:cubicBezTo>
                      <a:pt x="12884" y="10593"/>
                      <a:pt x="12382" y="10091"/>
                      <a:pt x="11766" y="10091"/>
                    </a:cubicBezTo>
                    <a:cubicBezTo>
                      <a:pt x="11150" y="10091"/>
                      <a:pt x="10650" y="10593"/>
                      <a:pt x="10650" y="11209"/>
                    </a:cubicBezTo>
                    <a:lnTo>
                      <a:pt x="10650" y="16234"/>
                    </a:lnTo>
                    <a:cubicBezTo>
                      <a:pt x="10650" y="16544"/>
                      <a:pt x="10399" y="16793"/>
                      <a:pt x="10091" y="16793"/>
                    </a:cubicBezTo>
                    <a:lnTo>
                      <a:pt x="7857" y="16793"/>
                    </a:lnTo>
                    <a:cubicBezTo>
                      <a:pt x="7547" y="16793"/>
                      <a:pt x="7298" y="16544"/>
                      <a:pt x="7298" y="16234"/>
                    </a:cubicBezTo>
                    <a:lnTo>
                      <a:pt x="7298" y="7299"/>
                    </a:lnTo>
                    <a:cubicBezTo>
                      <a:pt x="7298" y="6989"/>
                      <a:pt x="7547" y="6740"/>
                      <a:pt x="7857" y="6740"/>
                    </a:cubicBezTo>
                    <a:lnTo>
                      <a:pt x="10091" y="6740"/>
                    </a:lnTo>
                    <a:cubicBezTo>
                      <a:pt x="10377" y="6740"/>
                      <a:pt x="10613" y="6956"/>
                      <a:pt x="10644" y="7234"/>
                    </a:cubicBezTo>
                    <a:cubicBezTo>
                      <a:pt x="11219" y="6901"/>
                      <a:pt x="11901" y="6721"/>
                      <a:pt x="12596" y="6721"/>
                    </a:cubicBezTo>
                    <a:close/>
                    <a:moveTo>
                      <a:pt x="2831" y="0"/>
                    </a:moveTo>
                    <a:cubicBezTo>
                      <a:pt x="1290" y="0"/>
                      <a:pt x="0" y="1290"/>
                      <a:pt x="0" y="2831"/>
                    </a:cubicBezTo>
                    <a:lnTo>
                      <a:pt x="0" y="16234"/>
                    </a:lnTo>
                    <a:cubicBezTo>
                      <a:pt x="0" y="17775"/>
                      <a:pt x="1290" y="19065"/>
                      <a:pt x="2831" y="19065"/>
                    </a:cubicBezTo>
                    <a:lnTo>
                      <a:pt x="16235" y="19065"/>
                    </a:lnTo>
                    <a:cubicBezTo>
                      <a:pt x="17774" y="19065"/>
                      <a:pt x="19065" y="17775"/>
                      <a:pt x="19065" y="16234"/>
                    </a:cubicBezTo>
                    <a:lnTo>
                      <a:pt x="19065" y="2831"/>
                    </a:lnTo>
                    <a:cubicBezTo>
                      <a:pt x="19065" y="1290"/>
                      <a:pt x="17774" y="0"/>
                      <a:pt x="162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587;p55">
                <a:extLst>
                  <a:ext uri="{FF2B5EF4-FFF2-40B4-BE49-F238E27FC236}">
                    <a16:creationId xmlns:a16="http://schemas.microsoft.com/office/drawing/2014/main" id="{E2702E20-B42C-2622-72EB-02C538C8A318}"/>
                  </a:ext>
                </a:extLst>
              </p:cNvPr>
              <p:cNvSpPr/>
              <p:nvPr/>
            </p:nvSpPr>
            <p:spPr>
              <a:xfrm>
                <a:off x="1555413" y="1886846"/>
                <a:ext cx="139912" cy="163558"/>
              </a:xfrm>
              <a:custGeom>
                <a:avLst/>
                <a:gdLst/>
                <a:ahLst/>
                <a:cxnLst/>
                <a:rect l="l" t="t" r="r" b="b"/>
                <a:pathLst>
                  <a:path w="6704" h="7837" extrusionOk="0">
                    <a:moveTo>
                      <a:pt x="4182" y="0"/>
                    </a:moveTo>
                    <a:cubicBezTo>
                      <a:pt x="3474" y="0"/>
                      <a:pt x="2782" y="261"/>
                      <a:pt x="2332" y="711"/>
                    </a:cubicBezTo>
                    <a:cubicBezTo>
                      <a:pt x="2108" y="935"/>
                      <a:pt x="1938" y="1142"/>
                      <a:pt x="1686" y="1142"/>
                    </a:cubicBezTo>
                    <a:cubicBezTo>
                      <a:pt x="1618" y="1142"/>
                      <a:pt x="1544" y="1127"/>
                      <a:pt x="1462" y="1093"/>
                    </a:cubicBezTo>
                    <a:cubicBezTo>
                      <a:pt x="1253" y="1006"/>
                      <a:pt x="1117" y="803"/>
                      <a:pt x="1117" y="576"/>
                    </a:cubicBezTo>
                    <a:lnTo>
                      <a:pt x="1117" y="17"/>
                    </a:lnTo>
                    <a:lnTo>
                      <a:pt x="1" y="17"/>
                    </a:lnTo>
                    <a:lnTo>
                      <a:pt x="1" y="7836"/>
                    </a:lnTo>
                    <a:lnTo>
                      <a:pt x="1117" y="7836"/>
                    </a:lnTo>
                    <a:lnTo>
                      <a:pt x="1117" y="3370"/>
                    </a:lnTo>
                    <a:cubicBezTo>
                      <a:pt x="1117" y="2137"/>
                      <a:pt x="2120" y="1135"/>
                      <a:pt x="3351" y="1135"/>
                    </a:cubicBezTo>
                    <a:cubicBezTo>
                      <a:pt x="4584" y="1135"/>
                      <a:pt x="5585" y="2137"/>
                      <a:pt x="5585" y="3370"/>
                    </a:cubicBezTo>
                    <a:lnTo>
                      <a:pt x="5585" y="7836"/>
                    </a:lnTo>
                    <a:lnTo>
                      <a:pt x="6703" y="7836"/>
                    </a:lnTo>
                    <a:lnTo>
                      <a:pt x="6703" y="2384"/>
                    </a:lnTo>
                    <a:cubicBezTo>
                      <a:pt x="6703" y="1266"/>
                      <a:pt x="5932" y="245"/>
                      <a:pt x="4648" y="38"/>
                    </a:cubicBezTo>
                    <a:cubicBezTo>
                      <a:pt x="4493" y="13"/>
                      <a:pt x="4337" y="0"/>
                      <a:pt x="418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588;p55">
                <a:extLst>
                  <a:ext uri="{FF2B5EF4-FFF2-40B4-BE49-F238E27FC236}">
                    <a16:creationId xmlns:a16="http://schemas.microsoft.com/office/drawing/2014/main" id="{80C9ED38-3130-BEFD-0CF9-F7D7E00E688D}"/>
                  </a:ext>
                </a:extLst>
              </p:cNvPr>
              <p:cNvSpPr/>
              <p:nvPr/>
            </p:nvSpPr>
            <p:spPr>
              <a:xfrm>
                <a:off x="1462169" y="1887200"/>
                <a:ext cx="23354" cy="163203"/>
              </a:xfrm>
              <a:custGeom>
                <a:avLst/>
                <a:gdLst/>
                <a:ahLst/>
                <a:cxnLst/>
                <a:rect l="l" t="t" r="r" b="b"/>
                <a:pathLst>
                  <a:path w="1119" h="7820" extrusionOk="0">
                    <a:moveTo>
                      <a:pt x="0" y="0"/>
                    </a:moveTo>
                    <a:lnTo>
                      <a:pt x="0" y="7819"/>
                    </a:lnTo>
                    <a:lnTo>
                      <a:pt x="1118" y="7819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482AE90-2D19-4168-8C86-11778E62404B}"/>
                </a:ext>
              </a:extLst>
            </p:cNvPr>
            <p:cNvSpPr txBox="1"/>
            <p:nvPr/>
          </p:nvSpPr>
          <p:spPr>
            <a:xfrm>
              <a:off x="1251122" y="1683608"/>
              <a:ext cx="1529149" cy="907941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100">
                  <a:highlight>
                    <a:srgbClr val="FFFFFF"/>
                  </a:highlight>
                  <a:hlinkClick r:id="rId4"/>
                </a:rPr>
                <a:t>asmaa-khasawneh</a:t>
              </a:r>
              <a:br>
                <a:rPr lang="en-US"/>
              </a:br>
              <a:endParaRPr lang="en-US"/>
            </a:p>
            <a:p>
              <a:endParaRPr lang="en-US"/>
            </a:p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64048485"/>
      </p:ext>
    </p:extLst>
  </p:cSld>
  <p:clrMapOvr>
    <a:masterClrMapping/>
  </p:clrMapOvr>
</p:sld>
</file>

<file path=ppt/theme/theme1.xml><?xml version="1.0" encoding="utf-8"?>
<a:theme xmlns:a="http://schemas.openxmlformats.org/drawingml/2006/main" name="Industrial Preliminary Project by Slidesgo">
  <a:themeElements>
    <a:clrScheme name="Simple Light">
      <a:dk1>
        <a:srgbClr val="202A41"/>
      </a:dk1>
      <a:lt1>
        <a:srgbClr val="FFFFFF"/>
      </a:lt1>
      <a:dk2>
        <a:srgbClr val="516988"/>
      </a:dk2>
      <a:lt2>
        <a:srgbClr val="D3E1F1"/>
      </a:lt2>
      <a:accent1>
        <a:srgbClr val="90ABCE"/>
      </a:accent1>
      <a:accent2>
        <a:srgbClr val="6E86A5"/>
      </a:accent2>
      <a:accent3>
        <a:srgbClr val="F5F4F3"/>
      </a:accent3>
      <a:accent4>
        <a:srgbClr val="FFFFFF"/>
      </a:accent4>
      <a:accent5>
        <a:srgbClr val="FFFFFF"/>
      </a:accent5>
      <a:accent6>
        <a:srgbClr val="FFFFFF"/>
      </a:accent6>
      <a:hlink>
        <a:srgbClr val="202A4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12</Slides>
  <Notes>12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Industrial Preliminary Project by Slidesgo</vt:lpstr>
      <vt:lpstr>Slidesgo Final Pages</vt:lpstr>
      <vt:lpstr>End-to-End Quality Assurance Testing for a Retail Web &amp; API System</vt:lpstr>
      <vt:lpstr>TABLE OF CONTENTS</vt:lpstr>
      <vt:lpstr>Test Planning &amp; Strategy</vt:lpstr>
      <vt:lpstr>Manual Testing</vt:lpstr>
      <vt:lpstr>API Testing</vt:lpstr>
      <vt:lpstr>API Testing</vt:lpstr>
      <vt:lpstr>Newman Report </vt:lpstr>
      <vt:lpstr>Performance Testing(k6)</vt:lpstr>
      <vt:lpstr>K6 Analysis </vt:lpstr>
      <vt:lpstr>UI Automation Testing</vt:lpstr>
      <vt:lpstr>Mobile Testing</vt:lpstr>
      <vt:lpstr>THANKS!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73</cp:revision>
  <dcterms:modified xsi:type="dcterms:W3CDTF">2026-02-10T04:44:11Z</dcterms:modified>
</cp:coreProperties>
</file>