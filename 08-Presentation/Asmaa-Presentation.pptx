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6"/>
  </p:notesMasterIdLst>
  <p:sldIdLst>
    <p:sldId id="256" r:id="rId3"/>
    <p:sldId id="258" r:id="rId4"/>
    <p:sldId id="259" r:id="rId5"/>
    <p:sldId id="298" r:id="rId6"/>
    <p:sldId id="261" r:id="rId7"/>
    <p:sldId id="299" r:id="rId8"/>
    <p:sldId id="257" r:id="rId9"/>
    <p:sldId id="262" r:id="rId10"/>
    <p:sldId id="301" r:id="rId11"/>
    <p:sldId id="264" r:id="rId12"/>
    <p:sldId id="267" r:id="rId13"/>
    <p:sldId id="302" r:id="rId14"/>
    <p:sldId id="300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Roboto Medium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743BE-1219-47BA-B29B-DC467E97AB98}" v="85" dt="2026-02-10T04:27:04.202"/>
    <p1510:client id="{0D6BBA16-84FC-4C9F-A23C-A37B11104EDE}" v="302" dt="2026-02-08T17:12:56.496"/>
    <p1510:client id="{0EF36317-306D-4EF0-9A4E-1D5F18C415DB}" v="191" dt="2026-02-08T19:12:50.125"/>
    <p1510:client id="{5DD36A6A-7AEB-B712-2E03-CC0CBF7B291B}" v="4" dt="2026-02-09T16:38:43.356"/>
    <p1510:client id="{8E97466D-3B20-41AB-A7A5-32CC200ADA1A}" v="50" dt="2026-02-08T16:27:15.034"/>
    <p1510:client id="{9D5B01E1-8ADC-42D0-9476-AE4CCBBBF1A5}" v="175" dt="2026-02-08T18:53:19.072"/>
    <p1510:client id="{B81DE52B-ACF1-442C-886F-C7E1C99D8B9B}" v="275" dt="2026-02-08T19:52:51.732"/>
    <p1510:client id="{C3677238-7711-467B-A277-C5EC94D00965}" v="26" dt="2026-02-10T06:01:44.454"/>
  </p1510:revLst>
</p1510:revInfo>
</file>

<file path=ppt/tableStyles.xml><?xml version="1.0" encoding="utf-8"?>
<a:tblStyleLst xmlns:a="http://schemas.openxmlformats.org/drawingml/2006/main" def="{B7BAABC3-A202-4F3F-B023-6F4C28FE8A6F}">
  <a:tblStyle styleId="{B7BAABC3-A202-4F3F-B023-6F4C28FE8A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0E54CC-8E98-4F2E-93AE-7B48CDE703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spcBef>
                <a:spcPts val="0"/>
              </a:spcBef>
              <a:spcAft>
                <a:spcPts val="0"/>
              </a:spcAft>
            </a:pPr>
            <a:endParaRPr lang="en-US"/>
          </a:p>
          <a:p>
            <a:pPr marL="171450" indent="-171450"/>
            <a:r>
              <a:rPr lang="en-US" b="1" dirty="0"/>
              <a:t>It’s a pleasure to be here today</a:t>
            </a:r>
            <a:endParaRPr lang="en-US" dirty="0"/>
          </a:p>
          <a:p>
            <a:pPr marL="171450" indent="-171450"/>
            <a:r>
              <a:rPr lang="en-US" b="1" dirty="0" err="1"/>
              <a:t>Self introduction</a:t>
            </a:r>
            <a:endParaRPr lang="en-US" dirty="0" err="1"/>
          </a:p>
          <a:p>
            <a:pPr marL="171450" indent="-171450"/>
            <a:r>
              <a:rPr lang="en-US" b="1" dirty="0" err="1"/>
              <a:t>Tahaluf</a:t>
            </a:r>
            <a:r>
              <a:rPr lang="en-US" b="1" dirty="0"/>
              <a:t> Al Emarat training</a:t>
            </a:r>
            <a:endParaRPr lang="en-US" dirty="0"/>
          </a:p>
          <a:p>
            <a:pPr marL="171450" indent="-171450"/>
            <a:r>
              <a:rPr lang="en-US" b="1" dirty="0"/>
              <a:t>HTU Quality Assurance program</a:t>
            </a:r>
            <a:endParaRPr lang="en-US" dirty="0"/>
          </a:p>
          <a:p>
            <a:pPr marL="171450" indent="-171450"/>
            <a:r>
              <a:rPr lang="en-US" b="1" dirty="0"/>
              <a:t>Final project overview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285750" indent="-285750"/>
            <a:r>
              <a:rPr lang="en-US" b="1" dirty="0"/>
              <a:t>The project consists of seven main parts</a:t>
            </a:r>
            <a:endParaRPr lang="en-US" dirty="0"/>
          </a:p>
          <a:p>
            <a:pPr marL="285750" indent="-285750"/>
            <a:r>
              <a:rPr lang="en-US" b="1" dirty="0"/>
              <a:t>Through each part, I will explain how it was implemented in this project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As a QA engineer, having a clear test plan is essential before starting any testing activities</a:t>
            </a:r>
            <a:endParaRPr lang="en-US" dirty="0"/>
          </a:p>
          <a:p>
            <a:pPr marL="171450" indent="-171450"/>
            <a:r>
              <a:rPr lang="en-US" b="1" dirty="0"/>
              <a:t>A comprehensive test plan was created for the demo application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6DA07C9F-DB4C-3D6D-67E7-D907D070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4dda1946d_6_322:notes">
            <a:extLst>
              <a:ext uri="{FF2B5EF4-FFF2-40B4-BE49-F238E27FC236}">
                <a16:creationId xmlns:a16="http://schemas.microsoft.com/office/drawing/2014/main" id="{206F0CE4-A295-F509-F081-850FF4443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4dda1946d_6_322:notes">
            <a:extLst>
              <a:ext uri="{FF2B5EF4-FFF2-40B4-BE49-F238E27FC236}">
                <a16:creationId xmlns:a16="http://schemas.microsoft.com/office/drawing/2014/main" id="{8DFAD3F9-2AC5-A132-041D-45356E104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Covered all user roles in the system</a:t>
            </a:r>
            <a:endParaRPr lang="en-US" dirty="0"/>
          </a:p>
          <a:p>
            <a:pPr marL="171450" indent="-171450"/>
            <a:r>
              <a:rPr lang="en-US" b="1" dirty="0"/>
              <a:t>Created and executed 59 manual test cases</a:t>
            </a:r>
            <a:endParaRPr lang="en-US" dirty="0"/>
          </a:p>
          <a:p>
            <a:pPr marL="171450" indent="-171450"/>
            <a:r>
              <a:rPr lang="en-US" b="1" dirty="0"/>
              <a:t>Reported 22 documented defects</a:t>
            </a:r>
            <a:endParaRPr lang="en-US" dirty="0"/>
          </a:p>
          <a:p>
            <a:pPr marL="171450" indent="-171450"/>
            <a:r>
              <a:rPr lang="en-US" b="1" dirty="0"/>
              <a:t>As shown, test cases and bug reports followed a clear structure</a:t>
            </a:r>
            <a:endParaRPr lang="en-US" dirty="0"/>
          </a:p>
          <a:p>
            <a:pPr marL="171450" indent="-171450"/>
            <a:r>
              <a:rPr lang="en-US" b="1" dirty="0"/>
              <a:t>Included all essential fields</a:t>
            </a:r>
            <a:endParaRPr lang="en-US" dirty="0"/>
          </a:p>
          <a:p>
            <a:pPr marL="171450" indent="-171450"/>
            <a:r>
              <a:rPr lang="en-US" b="1" dirty="0"/>
              <a:t>Ensured traceability between test cases and defects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8178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 err="1"/>
              <a:t>DummyJSON</a:t>
            </a:r>
            <a:r>
              <a:rPr lang="en-US" b="1" dirty="0"/>
              <a:t> API</a:t>
            </a:r>
            <a:endParaRPr lang="en-US" dirty="0"/>
          </a:p>
          <a:p>
            <a:pPr marL="171450" indent="-171450"/>
            <a:r>
              <a:rPr lang="en-US" b="1" dirty="0"/>
              <a:t>Postman collection structure</a:t>
            </a:r>
            <a:endParaRPr lang="en-US" dirty="0"/>
          </a:p>
          <a:p>
            <a:pPr marL="171450" indent="-171450"/>
            <a:r>
              <a:rPr lang="en-US" b="1" dirty="0"/>
              <a:t>Environment variables configuration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>
          <a:extLst>
            <a:ext uri="{FF2B5EF4-FFF2-40B4-BE49-F238E27FC236}">
              <a16:creationId xmlns:a16="http://schemas.microsoft.com/office/drawing/2014/main" id="{1A039A5B-0E0A-94D6-2128-6F77A52F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2c295343_0_0:notes">
            <a:extLst>
              <a:ext uri="{FF2B5EF4-FFF2-40B4-BE49-F238E27FC236}">
                <a16:creationId xmlns:a16="http://schemas.microsoft.com/office/drawing/2014/main" id="{6B4B2034-FD1B-E574-7DB8-11C363890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2c295343_0_0:notes">
            <a:extLst>
              <a:ext uri="{FF2B5EF4-FFF2-40B4-BE49-F238E27FC236}">
                <a16:creationId xmlns:a16="http://schemas.microsoft.com/office/drawing/2014/main" id="{1EFCDD57-2EB5-DF0D-4308-C2EF6E1A3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23 API requests</a:t>
            </a:r>
            <a:endParaRPr lang="en-US" dirty="0"/>
          </a:p>
          <a:p>
            <a:pPr marL="171450" indent="-171450"/>
            <a:r>
              <a:rPr lang="en-US" b="1" dirty="0"/>
              <a:t>Randomized test data</a:t>
            </a:r>
            <a:endParaRPr lang="en-US" dirty="0"/>
          </a:p>
          <a:p>
            <a:pPr marL="171450" indent="-171450"/>
            <a:r>
              <a:rPr lang="en-US" b="1" dirty="0"/>
              <a:t>Data-driven testing using a CSV file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852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A mandatory Newman test was generated to provide a clear execution summary</a:t>
            </a:r>
            <a:endParaRPr lang="en-US" dirty="0"/>
          </a:p>
          <a:p>
            <a:pPr marL="171450" indent="-171450"/>
            <a:r>
              <a:rPr lang="en-US" b="1" dirty="0"/>
              <a:t>Three iterations were executed using the CSV file</a:t>
            </a:r>
            <a:endParaRPr lang="en-US" dirty="0"/>
          </a:p>
          <a:p>
            <a:pPr marL="171450" indent="-171450"/>
            <a:r>
              <a:rPr lang="en-US" b="1" dirty="0"/>
              <a:t>429 assertions were performed</a:t>
            </a:r>
            <a:endParaRPr lang="en-US" dirty="0"/>
          </a:p>
          <a:p>
            <a:pPr marL="171450" indent="-171450"/>
            <a:r>
              <a:rPr lang="en-US" b="1" dirty="0"/>
              <a:t>18 assertions failed as part of negative test scenarios</a:t>
            </a:r>
            <a:endParaRPr lang="en-US" dirty="0"/>
          </a:p>
          <a:p>
            <a:pPr marL="171450" indent="-171450"/>
            <a:r>
              <a:rPr lang="en-US" b="1" dirty="0"/>
              <a:t>Zero skipped tests, indicating that all endpoints were fully tested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Current related API endpoints</a:t>
            </a:r>
            <a:endParaRPr lang="en-US" dirty="0"/>
          </a:p>
          <a:p>
            <a:pPr marL="171450" indent="-171450"/>
            <a:r>
              <a:rPr lang="en-US" b="1" dirty="0"/>
              <a:t>Two test scenarios were conducted: smoke test and load test</a:t>
            </a:r>
            <a:endParaRPr lang="en-US" dirty="0"/>
          </a:p>
          <a:p>
            <a:pPr marL="171450" indent="-171450"/>
            <a:r>
              <a:rPr lang="en-US" b="1" dirty="0"/>
              <a:t>Defined thresholds for HTTP request duration, HTTP request failures, and checks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 dirty="0"/>
              <a:t>As a result, the system remained stable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No failed requests were detected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Response times were within acceptable limits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The system met the defined performance acceptance criteria</a:t>
            </a:r>
            <a:endParaRPr lang="en-US" dirty="0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6146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 dirty="0"/>
              <a:t>Used Selenium framework with Eclipse</a:t>
            </a:r>
            <a:endParaRPr lang="en-US" dirty="0"/>
          </a:p>
          <a:p>
            <a:pPr marL="171450" indent="-171450"/>
            <a:r>
              <a:rPr lang="en-US" b="1" dirty="0"/>
              <a:t>Implemented 22 automated test cases</a:t>
            </a:r>
            <a:endParaRPr lang="en-US" dirty="0"/>
          </a:p>
          <a:p>
            <a:pPr marL="171450" indent="-171450"/>
            <a:r>
              <a:rPr lang="en-US" b="1" dirty="0"/>
              <a:t>Created a dedicated package for test data</a:t>
            </a:r>
            <a:endParaRPr lang="en-US" dirty="0"/>
          </a:p>
          <a:p>
            <a:pPr marL="171450" indent="-171450"/>
            <a:r>
              <a:rPr lang="en-US" b="1" dirty="0"/>
              <a:t>Created a dedicated package for test cases</a:t>
            </a:r>
            <a:endParaRPr lang="en-US" dirty="0"/>
          </a:p>
          <a:p>
            <a:pPr marL="171450" indent="-171450"/>
            <a:r>
              <a:rPr lang="en-US" b="1" dirty="0"/>
              <a:t>A test suite was implemented to execute tests for multiple users</a:t>
            </a:r>
            <a:endParaRPr lang="en-US" dirty="0"/>
          </a:p>
          <a:p>
            <a:pPr marL="171450" indent="-171450"/>
            <a:r>
              <a:rPr lang="en-US" b="1" dirty="0"/>
              <a:t>Both happy path and negative scenarios were covered (7 scenarios)</a:t>
            </a: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 err="1"/>
              <a:t>تمام</a:t>
            </a:r>
            <a:r>
              <a:rPr lang="en-US" dirty="0"/>
              <a:t> 👌 </a:t>
            </a:r>
            <a:r>
              <a:rPr lang="en-US" dirty="0" err="1"/>
              <a:t>هاي</a:t>
            </a:r>
            <a:r>
              <a:rPr lang="en-US" dirty="0"/>
              <a:t> </a:t>
            </a:r>
            <a:r>
              <a:rPr lang="en-US" dirty="0" err="1"/>
              <a:t>صياغة</a:t>
            </a:r>
            <a:r>
              <a:rPr lang="en-US" dirty="0"/>
              <a:t> </a:t>
            </a:r>
            <a:r>
              <a:rPr lang="en-US" b="1" dirty="0" err="1"/>
              <a:t>مصقولة</a:t>
            </a:r>
            <a:r>
              <a:rPr lang="en-US" b="1" dirty="0"/>
              <a:t> </a:t>
            </a:r>
            <a:r>
              <a:rPr lang="en-US" b="1" dirty="0" err="1"/>
              <a:t>واحترافية</a:t>
            </a:r>
            <a:r>
              <a:rPr lang="en-US" dirty="0"/>
              <a:t> </a:t>
            </a:r>
            <a:r>
              <a:rPr lang="en-US" dirty="0" err="1"/>
              <a:t>وجاهزة</a:t>
            </a:r>
            <a:r>
              <a:rPr lang="en-US" dirty="0"/>
              <a:t> </a:t>
            </a:r>
            <a:r>
              <a:rPr lang="en-US" dirty="0" err="1"/>
              <a:t>للسلايد</a:t>
            </a:r>
            <a:r>
              <a:rPr lang="en-US" dirty="0"/>
              <a:t>:</a:t>
            </a:r>
          </a:p>
          <a:p>
            <a:pPr marL="171450" indent="-171450"/>
            <a:r>
              <a:rPr lang="en-US" b="1" dirty="0"/>
              <a:t>Mobile testing was performed using Android Studio and Appium Inspector</a:t>
            </a:r>
            <a:endParaRPr lang="en-US" dirty="0"/>
          </a:p>
          <a:p>
            <a:pPr marL="171450" indent="-171450"/>
            <a:r>
              <a:rPr lang="en-US" b="1" dirty="0"/>
              <a:t>A total of three basic mobile test cases were executed</a:t>
            </a:r>
            <a:endParaRPr lang="en-US" dirty="0"/>
          </a:p>
          <a:p>
            <a:pPr marL="171450" indent="-171450"/>
            <a:r>
              <a:rPr lang="en-US" b="1" dirty="0"/>
              <a:t>Testing was conducted on the </a:t>
            </a:r>
            <a:r>
              <a:rPr lang="en-US" b="1" dirty="0" err="1"/>
              <a:t>SwagLabs</a:t>
            </a:r>
            <a:r>
              <a:rPr lang="en-US" b="1" dirty="0"/>
              <a:t> mobile application</a:t>
            </a:r>
            <a:endParaRPr lang="en-US" dirty="0"/>
          </a:p>
          <a:p>
            <a:pPr marL="171450" indent="-171450"/>
            <a:r>
              <a:rPr lang="en-US" b="1" dirty="0"/>
              <a:t>The test cases included login, add to cart, and remove from cart</a:t>
            </a:r>
            <a:endParaRPr lang="en-US" dirty="0"/>
          </a:p>
          <a:p>
            <a:pPr indent="0">
              <a:buNone/>
            </a:pPr>
            <a:r>
              <a:rPr lang="en-US" dirty="0" err="1"/>
              <a:t>إذا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GitHub was used for version control and project collaboration</a:t>
            </a:r>
            <a:endParaRPr lang="en-US"/>
          </a:p>
          <a:p>
            <a:pPr marL="285750" indent="-285750">
              <a:buChar char="•"/>
            </a:pPr>
            <a:r>
              <a:rPr lang="en-US" b="1"/>
              <a:t>CI/CD workflow was implemented using GitHub Actions</a:t>
            </a:r>
            <a:endParaRPr lang="en-US"/>
          </a:p>
          <a:p>
            <a:pPr marL="171450" indent="-171450"/>
            <a:r>
              <a:rPr lang="en-US" b="1" dirty="0"/>
              <a:t>Automation flow for Selenium, K6 and Postman </a:t>
            </a:r>
            <a:endParaRPr lang="en-US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6884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EFF012DB-CB7F-05E2-8419-E34700E4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54dda1946d_4_2726:notes">
            <a:extLst>
              <a:ext uri="{FF2B5EF4-FFF2-40B4-BE49-F238E27FC236}">
                <a16:creationId xmlns:a16="http://schemas.microsoft.com/office/drawing/2014/main" id="{27CA2BB0-D0B8-9760-2388-378CC4281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54dda1946d_4_2726:notes">
            <a:extLst>
              <a:ext uri="{FF2B5EF4-FFF2-40B4-BE49-F238E27FC236}">
                <a16:creationId xmlns:a16="http://schemas.microsoft.com/office/drawing/2014/main" id="{9B9DA3BD-EF14-B18A-B98D-ADAD05D3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b="1"/>
              <a:t>“In conclusion, this project demonstrates my ability to apply a complete QA process using different testing approaches and tools.</a:t>
            </a:r>
            <a:br>
              <a:rPr lang="en-US" b="1" dirty="0"/>
            </a:br>
            <a:r>
              <a:rPr lang="en-US" b="1"/>
              <a:t> Thank you for your time, and I’m happy to answer any questions.”</a:t>
            </a:r>
            <a:endParaRPr lang="en-US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9800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hyperlink" Target="https://bit.ly/3A1uf1Q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" name="Google Shape;34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l="14813" b="34262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t="128" b="35496"/>
          <a:stretch/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713225" y="539550"/>
            <a:ext cx="3072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maa-Khasawneh/HTU-QA-Final-Projec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.linkedin.com/in/asmaa-khasawne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5479" y="1412341"/>
            <a:ext cx="8945213" cy="10779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 b="0"/>
              <a:t>End-to-End Quality Assurance Testing for a Retail Web &amp; API System</a:t>
            </a:r>
            <a:endParaRPr lang="en-US" sz="320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972300" y="2777305"/>
            <a:ext cx="7199400" cy="1251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cap="all"/>
              <a:t>Presented by: Asma Khasawneh</a:t>
            </a:r>
            <a:endParaRPr lang="en-US"/>
          </a:p>
          <a:p>
            <a:r>
              <a:rPr lang="en" cap="all"/>
              <a:t>Supervisor: </a:t>
            </a:r>
            <a:r>
              <a:rPr lang="en" cap="all" err="1"/>
              <a:t>eng.</a:t>
            </a:r>
            <a:r>
              <a:rPr lang="en" cap="all"/>
              <a:t> Ashraf smadi</a:t>
            </a:r>
          </a:p>
          <a:p>
            <a:r>
              <a:rPr lang="en" cap="all"/>
              <a:t>Software Testing – Quality Assurance Track</a:t>
            </a:r>
            <a:endParaRPr lang="en"/>
          </a:p>
          <a:p>
            <a:r>
              <a:rPr lang="en" cap="all"/>
              <a:t>11 February 2026</a:t>
            </a:r>
            <a:endParaRPr lang="en"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5" name="Google Shape;345;p37"/>
          <p:cNvSpPr txBox="1">
            <a:spLocks noGrp="1"/>
          </p:cNvSpPr>
          <p:nvPr>
            <p:ph type="title" idx="2"/>
          </p:nvPr>
        </p:nvSpPr>
        <p:spPr>
          <a:xfrm>
            <a:off x="2287397" y="1354630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6" name="Google Shape;346;p37"/>
          <p:cNvSpPr txBox="1">
            <a:spLocks noGrp="1"/>
          </p:cNvSpPr>
          <p:nvPr>
            <p:ph type="title" idx="3"/>
          </p:nvPr>
        </p:nvSpPr>
        <p:spPr>
          <a:xfrm>
            <a:off x="5564754" y="1699211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title" idx="4"/>
          </p:nvPr>
        </p:nvSpPr>
        <p:spPr>
          <a:xfrm>
            <a:off x="2287385" y="2225911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title" idx="5"/>
          </p:nvPr>
        </p:nvSpPr>
        <p:spPr>
          <a:xfrm>
            <a:off x="5564743" y="2587302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49" name="Google Shape;349;p37"/>
          <p:cNvSpPr txBox="1">
            <a:spLocks noGrp="1"/>
          </p:cNvSpPr>
          <p:nvPr>
            <p:ph type="title" idx="6"/>
          </p:nvPr>
        </p:nvSpPr>
        <p:spPr>
          <a:xfrm>
            <a:off x="2287399" y="3128509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0" name="Google Shape;350;p37"/>
          <p:cNvSpPr txBox="1">
            <a:spLocks noGrp="1"/>
          </p:cNvSpPr>
          <p:nvPr>
            <p:ph type="title" idx="7"/>
          </p:nvPr>
        </p:nvSpPr>
        <p:spPr>
          <a:xfrm>
            <a:off x="5564757" y="3548730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355" name="Google Shape;355;p37"/>
          <p:cNvSpPr txBox="1">
            <a:spLocks noGrp="1"/>
          </p:cNvSpPr>
          <p:nvPr>
            <p:ph type="subTitle" idx="14"/>
          </p:nvPr>
        </p:nvSpPr>
        <p:spPr>
          <a:xfrm>
            <a:off x="6262159" y="1701499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b="0"/>
              <a:t>Performance Testing</a:t>
            </a:r>
            <a:endParaRPr lang="en-US"/>
          </a:p>
        </p:txBody>
      </p:sp>
      <p:pic>
        <p:nvPicPr>
          <p:cNvPr id="357" name="Google Shape;3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712050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7E479674-99D6-6759-576A-458D26F5D28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83979" y="1354630"/>
            <a:ext cx="2288100" cy="694800"/>
          </a:xfrm>
        </p:spPr>
        <p:txBody>
          <a:bodyPr/>
          <a:lstStyle/>
          <a:p>
            <a:r>
              <a:rPr lang="en-US" b="0"/>
              <a:t>Test Planning &amp; Strategy</a:t>
            </a:r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21F0158-2967-C30A-AE79-2A84A3FEFED8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2983978" y="2236029"/>
            <a:ext cx="2288100" cy="694800"/>
          </a:xfrm>
        </p:spPr>
        <p:txBody>
          <a:bodyPr/>
          <a:lstStyle/>
          <a:p>
            <a:r>
              <a:rPr lang="en-US" b="0"/>
              <a:t>Manual Testing</a:t>
            </a:r>
            <a:endParaRPr lang="en-US"/>
          </a:p>
        </p:txBody>
      </p:sp>
      <p:sp>
        <p:nvSpPr>
          <p:cNvPr id="12" name="Subtitle 8">
            <a:extLst>
              <a:ext uri="{FF2B5EF4-FFF2-40B4-BE49-F238E27FC236}">
                <a16:creationId xmlns:a16="http://schemas.microsoft.com/office/drawing/2014/main" id="{DED130AD-C46E-EE0D-DA08-CEA61411E4AE}"/>
              </a:ext>
            </a:extLst>
          </p:cNvPr>
          <p:cNvSpPr txBox="1">
            <a:spLocks/>
          </p:cNvSpPr>
          <p:nvPr/>
        </p:nvSpPr>
        <p:spPr>
          <a:xfrm>
            <a:off x="6260862" y="3553533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b="0"/>
              <a:t>Mobile Testing</a:t>
            </a:r>
            <a:endParaRPr lang="en-US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id="{9F6EF357-7AC2-7976-6301-B99E90BDD4F3}"/>
              </a:ext>
            </a:extLst>
          </p:cNvPr>
          <p:cNvSpPr txBox="1">
            <a:spLocks/>
          </p:cNvSpPr>
          <p:nvPr/>
        </p:nvSpPr>
        <p:spPr>
          <a:xfrm>
            <a:off x="2983456" y="3127987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b="0"/>
              <a:t>API Testing</a:t>
            </a:r>
            <a:endParaRPr lang="en-US"/>
          </a:p>
        </p:txBody>
      </p:sp>
      <p:sp>
        <p:nvSpPr>
          <p:cNvPr id="16" name="Subtitle 8">
            <a:extLst>
              <a:ext uri="{FF2B5EF4-FFF2-40B4-BE49-F238E27FC236}">
                <a16:creationId xmlns:a16="http://schemas.microsoft.com/office/drawing/2014/main" id="{47E9AE12-2760-0257-AE18-D328DC23E5FC}"/>
              </a:ext>
            </a:extLst>
          </p:cNvPr>
          <p:cNvSpPr txBox="1">
            <a:spLocks/>
          </p:cNvSpPr>
          <p:nvPr/>
        </p:nvSpPr>
        <p:spPr>
          <a:xfrm>
            <a:off x="6260340" y="2568084"/>
            <a:ext cx="2775556" cy="72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b="0"/>
              <a:t>UI Automation Testing</a:t>
            </a:r>
            <a:endParaRPr lang="en-US"/>
          </a:p>
        </p:txBody>
      </p:sp>
      <p:sp>
        <p:nvSpPr>
          <p:cNvPr id="3" name="Google Shape;346;p37">
            <a:extLst>
              <a:ext uri="{FF2B5EF4-FFF2-40B4-BE49-F238E27FC236}">
                <a16:creationId xmlns:a16="http://schemas.microsoft.com/office/drawing/2014/main" id="{C267CEBB-D16E-542C-D23C-530B35529759}"/>
              </a:ext>
            </a:extLst>
          </p:cNvPr>
          <p:cNvSpPr txBox="1">
            <a:spLocks/>
          </p:cNvSpPr>
          <p:nvPr/>
        </p:nvSpPr>
        <p:spPr>
          <a:xfrm>
            <a:off x="2288154" y="4036758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/>
              <a:t>04</a:t>
            </a:r>
          </a:p>
        </p:txBody>
      </p:sp>
      <p:sp>
        <p:nvSpPr>
          <p:cNvPr id="5" name="Google Shape;355;p37">
            <a:extLst>
              <a:ext uri="{FF2B5EF4-FFF2-40B4-BE49-F238E27FC236}">
                <a16:creationId xmlns:a16="http://schemas.microsoft.com/office/drawing/2014/main" id="{96E571C7-7BD7-AFD4-CDA0-8EAA5B8B5004}"/>
              </a:ext>
            </a:extLst>
          </p:cNvPr>
          <p:cNvSpPr txBox="1">
            <a:spLocks/>
          </p:cNvSpPr>
          <p:nvPr/>
        </p:nvSpPr>
        <p:spPr>
          <a:xfrm>
            <a:off x="3195669" y="4039046"/>
            <a:ext cx="22881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" b="0"/>
              <a:t>Newman Report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-1150" y="693383"/>
            <a:ext cx="6118556" cy="5919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/>
              <a:t>Test Planning &amp; Strategy</a:t>
            </a:r>
          </a:p>
        </p:txBody>
      </p:sp>
      <p:sp>
        <p:nvSpPr>
          <p:cNvPr id="364" name="Google Shape;364;p38"/>
          <p:cNvSpPr txBox="1">
            <a:spLocks noGrp="1"/>
          </p:cNvSpPr>
          <p:nvPr>
            <p:ph type="subTitle" idx="3"/>
          </p:nvPr>
        </p:nvSpPr>
        <p:spPr>
          <a:xfrm>
            <a:off x="-1150" y="1277638"/>
            <a:ext cx="8959248" cy="8814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" sz="1400" b="1">
                <a:solidFill>
                  <a:schemeClr val="tx2">
                    <a:lumMod val="25000"/>
                  </a:schemeClr>
                </a:solidFill>
              </a:rPr>
              <a:t>At the beginning of the project, a test plan was created to define the overall testing approach for the </a:t>
            </a:r>
            <a:r>
              <a:rPr lang="en" sz="1400" b="1" err="1">
                <a:solidFill>
                  <a:schemeClr val="tx2">
                    <a:lumMod val="25000"/>
                  </a:schemeClr>
                </a:solidFill>
              </a:rPr>
              <a:t>SauceDemo</a:t>
            </a:r>
            <a:r>
              <a:rPr lang="en" sz="1400" b="1">
                <a:solidFill>
                  <a:schemeClr val="tx2">
                    <a:lumMod val="25000"/>
                  </a:schemeClr>
                </a:solidFill>
              </a:rPr>
              <a:t> application. This test plan outlines the key components that guided the execution of all testing activities and supported the remaining phases of the project.</a:t>
            </a:r>
            <a:endParaRPr lang="en-US" sz="1400">
              <a:solidFill>
                <a:schemeClr val="tx2">
                  <a:lumMod val="25000"/>
                </a:schemeClr>
              </a:solidFill>
            </a:endParaRPr>
          </a:p>
          <a:p>
            <a:pPr marL="228600" lvl="0" indent="-228600" algn="ctr">
              <a:spcBef>
                <a:spcPts val="0"/>
              </a:spcBef>
              <a:spcAft>
                <a:spcPts val="0"/>
              </a:spcAft>
              <a:buSzPts val="1100"/>
            </a:pPr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4A485B-A9DF-9080-6069-491B43AC27EF}"/>
              </a:ext>
            </a:extLst>
          </p:cNvPr>
          <p:cNvSpPr txBox="1"/>
          <p:nvPr/>
        </p:nvSpPr>
        <p:spPr>
          <a:xfrm>
            <a:off x="193301" y="2437279"/>
            <a:ext cx="698406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2">
                    <a:lumMod val="25000"/>
                  </a:schemeClr>
                </a:solidFill>
                <a:latin typeface="Roboto Medium"/>
                <a:ea typeface="YAEnS5hmfWI_0"/>
                <a:cs typeface="YAEnS5hmfWI_0"/>
              </a:rPr>
              <a:t>Key Test Plan Components:</a:t>
            </a: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YAEnS5hmfWI_0"/>
                <a:ea typeface="YAEnS5hmfWI_0"/>
                <a:cs typeface="YAEnS5hmfWI_0"/>
              </a:rPr>
              <a:t>System Under Test                    Test Scenarios</a:t>
            </a: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YAEnS5hmfWI_0"/>
                <a:ea typeface="YAEnS5hmfWI_0"/>
                <a:cs typeface="YAEnS5hmfWI_0"/>
              </a:rPr>
              <a:t>Test Scope                                   Test Objectives</a:t>
            </a: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YAEnS5hmfWI_0"/>
                <a:ea typeface="YAEnS5hmfWI_0"/>
                <a:cs typeface="YAEnS5hmfWI_0"/>
              </a:rPr>
              <a:t>Test Environment                       Entry and Exit Criteria</a:t>
            </a:r>
          </a:p>
          <a:p>
            <a:r>
              <a:rPr lang="en-US" sz="2000">
                <a:solidFill>
                  <a:schemeClr val="tx1">
                    <a:lumMod val="76000"/>
                    <a:lumOff val="24000"/>
                  </a:schemeClr>
                </a:solidFill>
                <a:latin typeface="YAEnS5hmfWI_0"/>
                <a:ea typeface="YAEnS5hmfWI_0"/>
                <a:cs typeface="YAEnS5hmfWI_0"/>
              </a:rPr>
              <a:t>Risks and Mitigation                  Plan Deliverables</a:t>
            </a:r>
          </a:p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0F0AB1-BBFF-10E8-E391-2E51BE48E9CF}"/>
              </a:ext>
            </a:extLst>
          </p:cNvPr>
          <p:cNvGrpSpPr/>
          <p:nvPr/>
        </p:nvGrpSpPr>
        <p:grpSpPr>
          <a:xfrm>
            <a:off x="6208021" y="2072828"/>
            <a:ext cx="2835185" cy="3003196"/>
            <a:chOff x="6208021" y="2081232"/>
            <a:chExt cx="2835185" cy="300319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7666FB-E492-7666-5164-BA15083274F4}"/>
                </a:ext>
              </a:extLst>
            </p:cNvPr>
            <p:cNvSpPr/>
            <p:nvPr/>
          </p:nvSpPr>
          <p:spPr>
            <a:xfrm>
              <a:off x="6208021" y="2081232"/>
              <a:ext cx="2835185" cy="3003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oogle Shape;362;p38" descr="A clipboard with a checklist and pencil&#10;&#10;AI-generated content may be incorrect.">
              <a:extLst>
                <a:ext uri="{FF2B5EF4-FFF2-40B4-BE49-F238E27FC236}">
                  <a16:creationId xmlns:a16="http://schemas.microsoft.com/office/drawing/2014/main" id="{21F06F7E-3773-9D43-E2B1-DD43F96457CE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/>
            <a:srcRect t="6457" b="6457"/>
            <a:stretch>
              <a:fillRect/>
            </a:stretch>
          </p:blipFill>
          <p:spPr>
            <a:xfrm>
              <a:off x="6280409" y="2157350"/>
              <a:ext cx="2690716" cy="2913014"/>
            </a:xfrm>
            <a:prstGeom prst="round2DiagRect">
              <a:avLst>
                <a:gd name="adj1" fmla="val 50000"/>
                <a:gd name="adj2" fmla="val 0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8650A2A5-74E4-2B6F-210E-3AD178A8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>
            <a:extLst>
              <a:ext uri="{FF2B5EF4-FFF2-40B4-BE49-F238E27FC236}">
                <a16:creationId xmlns:a16="http://schemas.microsoft.com/office/drawing/2014/main" id="{19D7A221-F0F1-CA58-82F7-6701437694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535" y="693383"/>
            <a:ext cx="4378843" cy="5919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/>
              <a:t>Manual Testing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2047A-031A-54C3-0532-08671021F7C4}"/>
              </a:ext>
            </a:extLst>
          </p:cNvPr>
          <p:cNvSpPr txBox="1"/>
          <p:nvPr/>
        </p:nvSpPr>
        <p:spPr>
          <a:xfrm>
            <a:off x="126067" y="1201831"/>
            <a:ext cx="7009277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Manual Testing Highlights: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  <a:p>
            <a:pPr marL="285750" indent="-285750">
              <a:buChar char="•"/>
            </a:pPr>
            <a:r>
              <a:rPr lang="en-US" sz="2000">
                <a:solidFill>
                  <a:schemeClr val="tx2">
                    <a:lumMod val="25000"/>
                  </a:schemeClr>
                </a:solidFill>
              </a:rPr>
              <a:t>Target: Web Application (</a:t>
            </a:r>
            <a:r>
              <a:rPr lang="en-US" sz="2000" err="1">
                <a:solidFill>
                  <a:schemeClr val="tx2">
                    <a:lumMod val="25000"/>
                  </a:schemeClr>
                </a:solidFill>
              </a:rPr>
              <a:t>SauceDemo</a:t>
            </a:r>
            <a:r>
              <a:rPr lang="en-US" sz="200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  <a:p>
            <a:pPr marL="285750" indent="-285750">
              <a:buChar char="•"/>
            </a:pPr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Total Test Cases Executed: </a:t>
            </a:r>
            <a:r>
              <a:rPr lang="en-US" sz="2000" b="1">
                <a:solidFill>
                  <a:schemeClr val="tx2">
                    <a:lumMod val="25000"/>
                  </a:schemeClr>
                </a:solidFill>
                <a:ea typeface="YAEnS5hmfWI_0"/>
              </a:rPr>
              <a:t>59</a:t>
            </a:r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 Test Cases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  <a:p>
            <a:pPr marL="285750" indent="-285750">
              <a:buChar char="•"/>
            </a:pPr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Test Scenarios: Happy Paths and Negative Scenarios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  <a:p>
            <a:pPr marL="285750" indent="-285750">
              <a:buChar char="•"/>
            </a:pPr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Defects Identified: </a:t>
            </a:r>
            <a:r>
              <a:rPr lang="en-US" sz="2000" b="1">
                <a:solidFill>
                  <a:schemeClr val="tx2">
                    <a:lumMod val="25000"/>
                  </a:schemeClr>
                </a:solidFill>
                <a:ea typeface="YAEnS5hmfWI_0"/>
              </a:rPr>
              <a:t>22</a:t>
            </a:r>
            <a:r>
              <a:rPr lang="en-US" sz="2000">
                <a:solidFill>
                  <a:schemeClr val="tx2">
                    <a:lumMod val="25000"/>
                  </a:schemeClr>
                </a:solidFill>
                <a:ea typeface="YAEnS5hmfWI_0"/>
              </a:rPr>
              <a:t> Bug Reports</a:t>
            </a:r>
            <a:endParaRPr lang="en-US">
              <a:solidFill>
                <a:schemeClr val="tx2">
                  <a:lumMod val="25000"/>
                </a:schemeClr>
              </a:solidFill>
            </a:endParaRPr>
          </a:p>
          <a:p>
            <a:endParaRPr lang="en-US" sz="2000" b="1">
              <a:solidFill>
                <a:schemeClr val="tx2">
                  <a:lumMod val="25000"/>
                </a:schemeClr>
              </a:solidFill>
              <a:latin typeface="Roboto Medium"/>
            </a:endParaRPr>
          </a:p>
          <a:p>
            <a:pPr algn="ctr"/>
            <a:endParaRPr lang="en-US">
              <a:ea typeface="YAEnS5hmfWI_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E35AA0-302A-789D-F1F0-6DC93FF5A4D6}"/>
              </a:ext>
            </a:extLst>
          </p:cNvPr>
          <p:cNvSpPr/>
          <p:nvPr/>
        </p:nvSpPr>
        <p:spPr>
          <a:xfrm>
            <a:off x="-57" y="2885630"/>
            <a:ext cx="9139903" cy="225764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nk and blu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B6B06C0-A2FB-F7F1-6B49-6637D0A14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63" y="3043259"/>
            <a:ext cx="8917081" cy="611798"/>
          </a:xfrm>
          <a:prstGeom prst="rect">
            <a:avLst/>
          </a:prstGeom>
        </p:spPr>
      </p:pic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4526CD72-E4F2-1935-AEEC-BC6356691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69" y="4015228"/>
            <a:ext cx="8135471" cy="88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>
            <a:spLocks noGrp="1"/>
          </p:cNvSpPr>
          <p:nvPr>
            <p:ph type="title"/>
          </p:nvPr>
        </p:nvSpPr>
        <p:spPr>
          <a:xfrm>
            <a:off x="720000" y="351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/>
              <a:t>API Testing</a:t>
            </a:r>
            <a:endParaRPr lang="en-US"/>
          </a:p>
        </p:txBody>
      </p:sp>
      <p:sp>
        <p:nvSpPr>
          <p:cNvPr id="378" name="Google Shape;378;p40"/>
          <p:cNvSpPr txBox="1">
            <a:spLocks noGrp="1"/>
          </p:cNvSpPr>
          <p:nvPr>
            <p:ph type="subTitle" idx="2"/>
          </p:nvPr>
        </p:nvSpPr>
        <p:spPr>
          <a:xfrm>
            <a:off x="518" y="1052095"/>
            <a:ext cx="9133177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600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API testing was performed using Postman to validate backend </a:t>
            </a:r>
            <a:r>
              <a:rPr lang="en-US" sz="1600" err="1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functionalitiesand</a:t>
            </a:r>
            <a:r>
              <a:rPr lang="en-US" sz="1600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 ensure correct behavior across different business modules. All </a:t>
            </a:r>
            <a:r>
              <a:rPr lang="en-US" sz="1600" err="1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APIrequests</a:t>
            </a:r>
            <a:r>
              <a:rPr lang="en-US" sz="1600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 were organized within a single collection and structured into </a:t>
            </a:r>
            <a:r>
              <a:rPr lang="en-US" sz="1600" err="1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foldersbased</a:t>
            </a:r>
            <a:r>
              <a:rPr lang="en-US" sz="1600">
                <a:solidFill>
                  <a:schemeClr val="tx2">
                    <a:lumMod val="25000"/>
                  </a:schemeClr>
                </a:solidFill>
                <a:latin typeface="Arial"/>
                <a:cs typeface="Arial"/>
              </a:rPr>
              <a:t> on functionality to improve readability and maintainability</a:t>
            </a:r>
            <a:endParaRPr lang="en-US" sz="1600">
              <a:solidFill>
                <a:schemeClr val="tx2">
                  <a:lumMod val="25000"/>
                </a:schemeClr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C2CF2CD-B97B-F2CA-9C4C-068CF378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93" y="2005914"/>
            <a:ext cx="3690750" cy="2905348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A25212D-CED6-8D36-9950-02EB28E10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237" y="2004741"/>
            <a:ext cx="4350147" cy="290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>
          <a:extLst>
            <a:ext uri="{FF2B5EF4-FFF2-40B4-BE49-F238E27FC236}">
              <a16:creationId xmlns:a16="http://schemas.microsoft.com/office/drawing/2014/main" id="{8D924562-381C-FF3E-9FB0-AE2A6457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>
            <a:extLst>
              <a:ext uri="{FF2B5EF4-FFF2-40B4-BE49-F238E27FC236}">
                <a16:creationId xmlns:a16="http://schemas.microsoft.com/office/drawing/2014/main" id="{A5569A0C-0BCF-9F14-5040-EC9E6B216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51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/>
              <a:t>API Testing</a:t>
            </a:r>
            <a:endParaRPr lang="en-US"/>
          </a:p>
        </p:txBody>
      </p:sp>
      <p:sp>
        <p:nvSpPr>
          <p:cNvPr id="378" name="Google Shape;378;p40">
            <a:extLst>
              <a:ext uri="{FF2B5EF4-FFF2-40B4-BE49-F238E27FC236}">
                <a16:creationId xmlns:a16="http://schemas.microsoft.com/office/drawing/2014/main" id="{D92E5A0D-FFD4-37BC-0AAE-C8AD3D1902C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18" y="1022507"/>
            <a:ext cx="7376655" cy="1032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Postman Testing Highlights: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Requests: </a:t>
            </a:r>
            <a:r>
              <a:rPr lang="en-US" b="1" dirty="0">
                <a:solidFill>
                  <a:schemeClr val="tx2">
                    <a:lumMod val="25000"/>
                  </a:schemeClr>
                </a:solidFill>
              </a:rPr>
              <a:t>23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 API Requests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Data-Driven Testing: CSV files used to support logic-based data-driven execution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Dynamic Data Handling: Response values stored as environment variables for reuse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Randomization: Random data generation applied where needed to increase test coverage</a:t>
            </a:r>
          </a:p>
          <a:p>
            <a:pPr marL="0" indent="0"/>
            <a:endParaRPr lang="en-US" sz="1600">
              <a:solidFill>
                <a:schemeClr val="tx2">
                  <a:lumMod val="2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7064E727-8402-65D4-75BF-27DEAEBA1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718" b="42555"/>
          <a:stretch>
            <a:fillRect/>
          </a:stretch>
        </p:blipFill>
        <p:spPr>
          <a:xfrm>
            <a:off x="6815979" y="638839"/>
            <a:ext cx="2187345" cy="1564331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535D31E-4029-76E3-ACAE-E6565B4212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18" r="32077" b="7692"/>
          <a:stretch>
            <a:fillRect/>
          </a:stretch>
        </p:blipFill>
        <p:spPr>
          <a:xfrm>
            <a:off x="840441" y="2350674"/>
            <a:ext cx="3731561" cy="246815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796921-A464-0584-33CA-8D6D50810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565" y="2366683"/>
            <a:ext cx="3216649" cy="245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8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-1683662" y="4806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>
                <a:solidFill>
                  <a:srgbClr val="1B3655"/>
                </a:solidFill>
              </a:rPr>
              <a:t>Newman Report</a:t>
            </a:r>
            <a:endParaRPr lang="en-US" sz="3200">
              <a:solidFill>
                <a:srgbClr val="1B3655"/>
              </a:solidFill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 sz="3200">
              <a:solidFill>
                <a:srgbClr val="1B36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91AF7-2A37-7941-85CB-8552ECD4C5D1}"/>
              </a:ext>
            </a:extLst>
          </p:cNvPr>
          <p:cNvSpPr txBox="1"/>
          <p:nvPr/>
        </p:nvSpPr>
        <p:spPr>
          <a:xfrm>
            <a:off x="92449" y="1285875"/>
            <a:ext cx="5647764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The Postman collection was executed using Newman to automate API testing and generate execution reports.</a:t>
            </a:r>
            <a:endParaRPr lang="en-US" sz="180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The Newman dashboard provided a clear summary of iterations,  assertions, and test results based on the data-driven execution.</a:t>
            </a:r>
          </a:p>
          <a:p>
            <a:endParaRPr lang="en-US" sz="1800">
              <a:solidFill>
                <a:schemeClr val="tx2">
                  <a:lumMod val="25000"/>
                </a:schemeClr>
              </a:solidFill>
              <a:latin typeface="YAFdJjTk5UU_0"/>
              <a:ea typeface="YAFdJjTk5UU_0"/>
              <a:cs typeface="YAFdJjTk5UU_0"/>
            </a:endParaRPr>
          </a:p>
          <a:p>
            <a:r>
              <a:rPr lang="en-US" sz="1800" b="1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Newman Report Highlights:</a:t>
            </a:r>
          </a:p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Iterations: </a:t>
            </a:r>
            <a:r>
              <a:rPr lang="en-US" sz="1800" b="1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3</a:t>
            </a:r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 Iterations</a:t>
            </a:r>
          </a:p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Total Assertions:</a:t>
            </a:r>
            <a:r>
              <a:rPr lang="en-US" sz="1800" b="1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 429 </a:t>
            </a:r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Assertions</a:t>
            </a:r>
          </a:p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Failed Assertions: </a:t>
            </a:r>
            <a:r>
              <a:rPr lang="en-US" sz="1800" b="1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18</a:t>
            </a:r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 Assertions</a:t>
            </a:r>
          </a:p>
          <a:p>
            <a:r>
              <a:rPr lang="en-US" sz="1800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Skipped Tests:</a:t>
            </a:r>
            <a:r>
              <a:rPr lang="en-US" sz="1800" b="1">
                <a:solidFill>
                  <a:schemeClr val="tx2">
                    <a:lumMod val="25000"/>
                  </a:schemeClr>
                </a:solidFill>
                <a:latin typeface="YAFdJjTk5UU_0"/>
                <a:ea typeface="YAFdJjTk5UU_0"/>
                <a:cs typeface="YAFdJjTk5UU_0"/>
              </a:rPr>
              <a:t> 0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CA6795-EF96-256E-3963-AA3B8AF10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41" y="479050"/>
            <a:ext cx="3168009" cy="4580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/>
          <p:nvPr/>
        </p:nvSpPr>
        <p:spPr>
          <a:xfrm>
            <a:off x="372819" y="874087"/>
            <a:ext cx="1459741" cy="8647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41"/>
          <p:cNvSpPr/>
          <p:nvPr/>
        </p:nvSpPr>
        <p:spPr>
          <a:xfrm>
            <a:off x="372820" y="2044638"/>
            <a:ext cx="1459742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41"/>
          <p:cNvSpPr txBox="1">
            <a:spLocks noGrp="1"/>
          </p:cNvSpPr>
          <p:nvPr>
            <p:ph type="subTitle" idx="4"/>
          </p:nvPr>
        </p:nvSpPr>
        <p:spPr>
          <a:xfrm>
            <a:off x="372235" y="2044638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/>
              <a:t>Load Profiles:</a:t>
            </a:r>
            <a:endParaRPr lang="en-US"/>
          </a:p>
        </p:txBody>
      </p:sp>
      <p:sp>
        <p:nvSpPr>
          <p:cNvPr id="386" name="Google Shape;386;p41"/>
          <p:cNvSpPr txBox="1">
            <a:spLocks noGrp="1"/>
          </p:cNvSpPr>
          <p:nvPr>
            <p:ph type="title"/>
          </p:nvPr>
        </p:nvSpPr>
        <p:spPr>
          <a:xfrm>
            <a:off x="720000" y="32029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Performance Testing(k6)</a:t>
            </a:r>
            <a:endParaRPr lang="en-US"/>
          </a:p>
        </p:txBody>
      </p:sp>
      <p:sp>
        <p:nvSpPr>
          <p:cNvPr id="387" name="Google Shape;387;p41"/>
          <p:cNvSpPr txBox="1">
            <a:spLocks noGrp="1"/>
          </p:cNvSpPr>
          <p:nvPr>
            <p:ph type="subTitle" idx="1"/>
          </p:nvPr>
        </p:nvSpPr>
        <p:spPr>
          <a:xfrm>
            <a:off x="1831172" y="2044644"/>
            <a:ext cx="3683245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b="1"/>
              <a:t>Smoke Test: Low virtual users for basic stability validation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" b="1"/>
              <a:t>Load Test: Higher virtual users to simulate normal usage</a:t>
            </a:r>
            <a:endParaRPr lang="en-US" b="1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 b="1"/>
          </a:p>
        </p:txBody>
      </p:sp>
      <p:sp>
        <p:nvSpPr>
          <p:cNvPr id="388" name="Google Shape;388;p41"/>
          <p:cNvSpPr txBox="1">
            <a:spLocks noGrp="1"/>
          </p:cNvSpPr>
          <p:nvPr>
            <p:ph type="subTitle" idx="2"/>
          </p:nvPr>
        </p:nvSpPr>
        <p:spPr>
          <a:xfrm>
            <a:off x="1831172" y="905403"/>
            <a:ext cx="2626361" cy="7551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" b="1"/>
              <a:t>Cart-related API endpoints</a:t>
            </a:r>
            <a:endParaRPr lang="en-US" b="1"/>
          </a:p>
        </p:txBody>
      </p:sp>
      <p:sp>
        <p:nvSpPr>
          <p:cNvPr id="389" name="Google Shape;389;p41"/>
          <p:cNvSpPr txBox="1">
            <a:spLocks noGrp="1"/>
          </p:cNvSpPr>
          <p:nvPr>
            <p:ph type="subTitle" idx="3"/>
          </p:nvPr>
        </p:nvSpPr>
        <p:spPr>
          <a:xfrm>
            <a:off x="372233" y="905402"/>
            <a:ext cx="1463114" cy="7629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/>
              <a:t>Targeted Endpoints:</a:t>
            </a:r>
            <a:endParaRPr lang="en-US"/>
          </a:p>
        </p:txBody>
      </p:sp>
      <p:pic>
        <p:nvPicPr>
          <p:cNvPr id="2" name="Picture 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52FA16B-CC6D-F9A3-55AC-2DAA9CF8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307" y="1017740"/>
            <a:ext cx="3341921" cy="37264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9EC11-3751-BE41-4BC2-5A047EA0FE16}"/>
              </a:ext>
            </a:extLst>
          </p:cNvPr>
          <p:cNvSpPr txBox="1"/>
          <p:nvPr/>
        </p:nvSpPr>
        <p:spPr>
          <a:xfrm>
            <a:off x="1831931" y="3064962"/>
            <a:ext cx="376563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pPr marL="228600" lvl="1" indent="-228600">
              <a:buFont typeface=""/>
              <a:buChar char="•"/>
            </a:pPr>
            <a:r>
              <a:rPr lang="en-US" sz="1200" b="1">
                <a:solidFill>
                  <a:schemeClr val="tx2">
                    <a:lumMod val="25000"/>
                  </a:schemeClr>
                </a:solidFill>
                <a:latin typeface="Poppins"/>
              </a:rPr>
              <a:t>Virtual users and test duration configured per scenario</a:t>
            </a:r>
          </a:p>
          <a:p>
            <a:pPr marL="228600" lvl="1" indent="-228600">
              <a:buFont typeface=""/>
              <a:buChar char="•"/>
            </a:pPr>
            <a:r>
              <a:rPr lang="en-US" sz="1200" b="1">
                <a:solidFill>
                  <a:schemeClr val="tx2">
                    <a:lumMod val="25000"/>
                  </a:schemeClr>
                </a:solidFill>
                <a:latin typeface="Poppins"/>
              </a:rPr>
              <a:t>Thresholds defined for response time and error rate</a:t>
            </a:r>
          </a:p>
          <a:p>
            <a:pPr marL="228600" lvl="1" indent="-228600">
              <a:buFont typeface=""/>
              <a:buChar char="•"/>
            </a:pPr>
            <a:r>
              <a:rPr lang="en-US" sz="1200" b="1">
                <a:solidFill>
                  <a:schemeClr val="tx2">
                    <a:lumMod val="25000"/>
                  </a:schemeClr>
                </a:solidFill>
                <a:latin typeface="Poppins"/>
              </a:rPr>
              <a:t>check and sleep functions applied to validate responses and simulate realistic behavior</a:t>
            </a:r>
          </a:p>
          <a:p>
            <a:pPr algn="ctr"/>
            <a:endParaRPr lang="en-US"/>
          </a:p>
        </p:txBody>
      </p:sp>
      <p:sp>
        <p:nvSpPr>
          <p:cNvPr id="4" name="Google Shape;384;p41">
            <a:extLst>
              <a:ext uri="{FF2B5EF4-FFF2-40B4-BE49-F238E27FC236}">
                <a16:creationId xmlns:a16="http://schemas.microsoft.com/office/drawing/2014/main" id="{DE71F230-D0AB-FACE-2306-EF4EA6BBC78C}"/>
              </a:ext>
            </a:extLst>
          </p:cNvPr>
          <p:cNvSpPr/>
          <p:nvPr/>
        </p:nvSpPr>
        <p:spPr>
          <a:xfrm>
            <a:off x="372819" y="3250268"/>
            <a:ext cx="1459742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D03E6-0717-E29E-15D8-48A1AA1E2EAB}"/>
              </a:ext>
            </a:extLst>
          </p:cNvPr>
          <p:cNvSpPr txBox="1"/>
          <p:nvPr/>
        </p:nvSpPr>
        <p:spPr>
          <a:xfrm>
            <a:off x="328808" y="3362457"/>
            <a:ext cx="162838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ctr" rtl="0"/>
            <a:r>
              <a:rPr lang="en-US" sz="1400" b="1" baseline="0">
                <a:solidFill>
                  <a:srgbClr val="202A41"/>
                </a:solidFill>
                <a:latin typeface="Poppins"/>
                <a:ea typeface="Arial"/>
                <a:cs typeface="Arial"/>
              </a:rPr>
              <a:t>Configuration &amp; Enhancements</a:t>
            </a:r>
            <a:r>
              <a:rPr lang="en-US" sz="1400" b="1">
                <a:solidFill>
                  <a:srgbClr val="202A41"/>
                </a:solidFill>
                <a:latin typeface="Poppins"/>
                <a:ea typeface="Arial"/>
                <a:cs typeface="Arial"/>
              </a:rPr>
              <a:t>​</a:t>
            </a:r>
            <a:endParaRPr lang="en-US" b="1">
              <a:latin typeface="Poppins"/>
            </a:endParaRPr>
          </a:p>
          <a:p>
            <a:pPr algn="ctr"/>
            <a:endParaRPr 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3990-305F-546F-5988-BB53BD0A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K6 Analysis 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514EC85-79C0-4808-0462-C8B46CED5EE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90398" y="827115"/>
            <a:ext cx="5604530" cy="2790632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endParaRPr lang="en-US"/>
          </a:p>
          <a:p>
            <a:pPr indent="0"/>
            <a:br>
              <a:rPr lang="en-US" dirty="0"/>
            </a:br>
            <a:endParaRPr lang="en-US" dirty="0"/>
          </a:p>
          <a:p>
            <a:pPr algn="l"/>
            <a:r>
              <a:rPr lang="en-US" dirty="0"/>
              <a:t> Analysis &amp; Conclusion</a:t>
            </a:r>
          </a:p>
          <a:p>
            <a:pPr marL="285750" indent="-285750" algn="l">
              <a:buFont typeface="Arial"/>
              <a:buChar char="•"/>
            </a:pPr>
            <a:r>
              <a:rPr lang="en-US" b="0" dirty="0"/>
              <a:t>The system remained stable under load</a:t>
            </a:r>
          </a:p>
          <a:p>
            <a:pPr marL="285750" indent="-285750" algn="l">
              <a:buFont typeface="Arial"/>
              <a:buChar char="•"/>
            </a:pPr>
            <a:r>
              <a:rPr lang="en-US" b="0" dirty="0"/>
              <a:t>No failed requests were detected</a:t>
            </a:r>
          </a:p>
          <a:p>
            <a:pPr marL="285750" indent="-285750" algn="l">
              <a:buFont typeface="Arial"/>
              <a:buChar char="•"/>
            </a:pPr>
            <a:r>
              <a:rPr lang="en-US" b="0" dirty="0"/>
              <a:t>Response times were acceptable and consistent</a:t>
            </a:r>
          </a:p>
          <a:p>
            <a:pPr marL="285750" indent="-285750" algn="l">
              <a:buFont typeface="Arial"/>
              <a:buChar char="•"/>
            </a:pPr>
            <a:r>
              <a:rPr lang="en-US" b="0" dirty="0"/>
              <a:t>The system meets the defined performance acceptance criteria</a:t>
            </a:r>
          </a:p>
          <a:p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E12AE73-42BB-2F70-6641-F6002B43A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999" y="900308"/>
            <a:ext cx="3234488" cy="382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24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Design Approach:</a:t>
            </a:r>
            <a:endParaRPr lang="en-US"/>
          </a:p>
        </p:txBody>
      </p:sp>
      <p:sp>
        <p:nvSpPr>
          <p:cNvPr id="444" name="Google Shape;444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UI Automation Testing</a:t>
            </a:r>
            <a:endParaRPr lang="en-US"/>
          </a:p>
        </p:txBody>
      </p:sp>
      <p:sp>
        <p:nvSpPr>
          <p:cNvPr id="445" name="Google Shape;445;p43"/>
          <p:cNvSpPr txBox="1">
            <a:spLocks noGrp="1"/>
          </p:cNvSpPr>
          <p:nvPr>
            <p:ph type="subTitle" idx="1"/>
          </p:nvPr>
        </p:nvSpPr>
        <p:spPr>
          <a:xfrm>
            <a:off x="422507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Tests organized into separate classes based on functionality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"/>
              <a:t>User-related actions handled in dedicated classes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Test data separated into independent data classes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447" name="Google Shape;447;p43"/>
          <p:cNvSpPr txBox="1">
            <a:spLocks noGrp="1"/>
          </p:cNvSpPr>
          <p:nvPr>
            <p:ph type="subTitle" idx="3"/>
          </p:nvPr>
        </p:nvSpPr>
        <p:spPr>
          <a:xfrm>
            <a:off x="422507" y="3396201"/>
            <a:ext cx="3549600" cy="1489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/>
              <a:t>Inheritance applied to reduce duplication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"/>
              <a:t>Centralized base/source class for setup and configuration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Test suite used to manage and execute tests</a:t>
            </a:r>
          </a:p>
          <a:p>
            <a:pPr marL="285750" indent="-285750">
              <a:buFont typeface="Arial"/>
              <a:buChar char="•"/>
            </a:pPr>
            <a:r>
              <a:rPr lang="en"/>
              <a:t>Total Automated Tests: </a:t>
            </a:r>
            <a:r>
              <a:rPr lang="en" b="1"/>
              <a:t>22</a:t>
            </a:r>
            <a:r>
              <a:rPr lang="en"/>
              <a:t> UI Test Cases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449" name="Google Shape;449;p43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Framework Structure:</a:t>
            </a:r>
            <a:endParaRPr lang="en-US"/>
          </a:p>
        </p:txBody>
      </p:sp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7F2544-DFF8-7D3E-55C4-3905B6660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424" y="1356726"/>
            <a:ext cx="2079974" cy="3573049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556F98-B8E2-23D4-0738-BD5FC3019F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86" t="568" r="26035" b="-2467"/>
          <a:stretch>
            <a:fillRect/>
          </a:stretch>
        </p:blipFill>
        <p:spPr>
          <a:xfrm>
            <a:off x="6101020" y="2098056"/>
            <a:ext cx="2929135" cy="2097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 txBox="1">
            <a:spLocks noGrp="1"/>
          </p:cNvSpPr>
          <p:nvPr>
            <p:ph type="title"/>
          </p:nvPr>
        </p:nvSpPr>
        <p:spPr>
          <a:xfrm>
            <a:off x="1842370" y="658991"/>
            <a:ext cx="3901335" cy="824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/>
              <a:t>Mobile Testing</a:t>
            </a:r>
            <a:endParaRPr lang="en-US" sz="3200"/>
          </a:p>
        </p:txBody>
      </p:sp>
      <p:sp>
        <p:nvSpPr>
          <p:cNvPr id="484" name="Google Shape;484;p46"/>
          <p:cNvSpPr txBox="1">
            <a:spLocks noGrp="1"/>
          </p:cNvSpPr>
          <p:nvPr>
            <p:ph type="subTitle" idx="1"/>
          </p:nvPr>
        </p:nvSpPr>
        <p:spPr>
          <a:xfrm>
            <a:off x="190500" y="1978785"/>
            <a:ext cx="5537547" cy="2740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b="1"/>
              <a:t>Mobile Testing Highlights:</a:t>
            </a:r>
            <a:endParaRPr lang="en-US" b="1"/>
          </a:p>
          <a:p>
            <a:pPr marL="285750" indent="-285750" algn="l">
              <a:buFont typeface="Arial"/>
              <a:buChar char="•"/>
            </a:pPr>
            <a:r>
              <a:rPr lang="en" b="1"/>
              <a:t>Platform: Android</a:t>
            </a:r>
          </a:p>
          <a:p>
            <a:pPr marL="285750" indent="-285750" algn="l">
              <a:buFont typeface="Arial"/>
              <a:buChar char="•"/>
            </a:pPr>
            <a:r>
              <a:rPr lang="en" b="1"/>
              <a:t>Tools: Android Studio, Appium</a:t>
            </a:r>
          </a:p>
          <a:p>
            <a:pPr marL="285750" indent="-285750" algn="l">
              <a:buFont typeface="Arial"/>
              <a:buChar char="•"/>
            </a:pPr>
            <a:r>
              <a:rPr lang="en" b="1"/>
              <a:t>Execution Environment: Android Emulator</a:t>
            </a:r>
          </a:p>
          <a:p>
            <a:pPr marL="285750" indent="-285750" algn="l">
              <a:buFont typeface="Arial"/>
              <a:buChar char="•"/>
            </a:pPr>
            <a:r>
              <a:rPr lang="en" b="1"/>
              <a:t>Test Coverage: Basic mobile system functionality</a:t>
            </a:r>
          </a:p>
          <a:p>
            <a:pPr marL="285750" indent="-285750" algn="l">
              <a:buFont typeface="Arial"/>
              <a:buChar char="•"/>
            </a:pPr>
            <a:r>
              <a:rPr lang="en" b="1"/>
              <a:t>Total Test Cases Executed: 3 Mobile Test Cases</a:t>
            </a:r>
          </a:p>
          <a:p>
            <a:pPr marL="285750" indent="-285750" algn="l">
              <a:buFont typeface="Arial"/>
              <a:buChar char="•"/>
            </a:pPr>
            <a:r>
              <a:rPr lang="en" b="1"/>
              <a:t>Testing Scope: Simple and targeted validation scenarios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pic>
        <p:nvPicPr>
          <p:cNvPr id="4" name="Picture 3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AD0231FD-BA77-7ED7-6C6C-CBADC1DA6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768" y="781611"/>
            <a:ext cx="1813669" cy="3941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FC8E-5EC0-99C5-B130-C4698545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068" y="244066"/>
            <a:ext cx="4191000" cy="1043700"/>
          </a:xfrm>
        </p:spPr>
        <p:txBody>
          <a:bodyPr/>
          <a:lstStyle/>
          <a:p>
            <a:r>
              <a:rPr lang="en-US" sz="3600" dirty="0"/>
              <a:t>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D92A0-E6A9-3D18-0AEB-0C3B3C28D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068" y="1282025"/>
            <a:ext cx="4191000" cy="431100"/>
          </a:xfrm>
        </p:spPr>
        <p:txBody>
          <a:bodyPr/>
          <a:lstStyle/>
          <a:p>
            <a:r>
              <a:rPr lang="en-US" dirty="0"/>
              <a:t>CI/CD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6E66683-FA23-A7C7-A48F-A84AA220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112" y="2843604"/>
            <a:ext cx="2457450" cy="771525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B36F2B8-6B55-B86F-AA39-9774E39ED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86" y="1883276"/>
            <a:ext cx="5121580" cy="270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75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21ADC97E-DF85-88C9-380F-976E64BC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>
            <a:extLst>
              <a:ext uri="{FF2B5EF4-FFF2-40B4-BE49-F238E27FC236}">
                <a16:creationId xmlns:a16="http://schemas.microsoft.com/office/drawing/2014/main" id="{0B013F82-4757-6AE5-431B-E53648F19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803" y="705330"/>
            <a:ext cx="5281249" cy="18705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" sz="7200"/>
              <a:t>THANKS!</a:t>
            </a:r>
            <a:endParaRPr lang="en" sz="7200" b="0">
              <a:solidFill>
                <a:srgbClr val="000000"/>
              </a:solidFill>
            </a:endParaRPr>
          </a:p>
          <a:p>
            <a:endParaRPr lang="en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647B8-D3C4-625C-AAF4-8B0161774936}"/>
              </a:ext>
            </a:extLst>
          </p:cNvPr>
          <p:cNvSpPr txBox="1"/>
          <p:nvPr/>
        </p:nvSpPr>
        <p:spPr>
          <a:xfrm>
            <a:off x="579223" y="2123818"/>
            <a:ext cx="45720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Do you have any questions?</a:t>
            </a:r>
            <a:r>
              <a:rPr lang="en-US" sz="1600" b="0" i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​</a:t>
            </a:r>
            <a:endParaRPr lang="en-US"/>
          </a:p>
          <a:p>
            <a:pPr algn="l" rtl="0"/>
            <a:r>
              <a:rPr lang="en-US" sz="1600" b="0" i="0" u="none" strike="noStrike" baseline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Khasawnehasmaa@gmail.com</a:t>
            </a:r>
            <a:r>
              <a:rPr lang="en-US" sz="1600" b="0" i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0" i="0" u="none" strike="noStrike" baseline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+962 797248869</a:t>
            </a:r>
            <a:r>
              <a:rPr lang="en-US" sz="1600" b="0" i="0">
                <a:solidFill>
                  <a:srgbClr val="202A41"/>
                </a:solidFill>
                <a:latin typeface="Poppin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600" b="1" i="0" u="sng" strike="noStrike" baseline="0">
                <a:solidFill>
                  <a:srgbClr val="202A41"/>
                </a:solidFill>
                <a:latin typeface="Poppins"/>
                <a:ea typeface="Segoe UI"/>
                <a:cs typeface="Segoe UI"/>
                <a:hlinkClick r:id="rId3"/>
              </a:rPr>
              <a:t>Github</a:t>
            </a:r>
            <a:endParaRPr lang="en-US" sz="1600" b="1" i="0" u="sng" strike="noStrike" baseline="0">
              <a:solidFill>
                <a:srgbClr val="202A41"/>
              </a:solidFill>
              <a:latin typeface="Poppins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97DD51-BD0A-EC18-C1F3-3AD9C31B7F74}"/>
              </a:ext>
            </a:extLst>
          </p:cNvPr>
          <p:cNvGrpSpPr/>
          <p:nvPr/>
        </p:nvGrpSpPr>
        <p:grpSpPr>
          <a:xfrm>
            <a:off x="579260" y="3412028"/>
            <a:ext cx="2069721" cy="994419"/>
            <a:chOff x="710550" y="1597130"/>
            <a:chExt cx="2069721" cy="994419"/>
          </a:xfrm>
        </p:grpSpPr>
        <p:sp>
          <p:nvSpPr>
            <p:cNvPr id="7" name="Google Shape;575;p55">
              <a:extLst>
                <a:ext uri="{FF2B5EF4-FFF2-40B4-BE49-F238E27FC236}">
                  <a16:creationId xmlns:a16="http://schemas.microsoft.com/office/drawing/2014/main" id="{28BC6E54-E41F-C440-CF17-C3108DAB1F48}"/>
                </a:ext>
              </a:extLst>
            </p:cNvPr>
            <p:cNvSpPr/>
            <p:nvPr/>
          </p:nvSpPr>
          <p:spPr>
            <a:xfrm>
              <a:off x="710550" y="1597130"/>
              <a:ext cx="542100" cy="54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8" name="Google Shape;584;p55">
              <a:extLst>
                <a:ext uri="{FF2B5EF4-FFF2-40B4-BE49-F238E27FC236}">
                  <a16:creationId xmlns:a16="http://schemas.microsoft.com/office/drawing/2014/main" id="{951A051A-0B56-006D-7F3F-43E651BCB9A0}"/>
                </a:ext>
              </a:extLst>
            </p:cNvPr>
            <p:cNvGrpSpPr/>
            <p:nvPr/>
          </p:nvGrpSpPr>
          <p:grpSpPr>
            <a:xfrm>
              <a:off x="818775" y="1705322"/>
              <a:ext cx="325717" cy="325707"/>
              <a:chOff x="1379798" y="1723250"/>
              <a:chExt cx="397887" cy="397887"/>
            </a:xfrm>
          </p:grpSpPr>
          <p:sp>
            <p:nvSpPr>
              <p:cNvPr id="10" name="Google Shape;585;p55">
                <a:extLst>
                  <a:ext uri="{FF2B5EF4-FFF2-40B4-BE49-F238E27FC236}">
                    <a16:creationId xmlns:a16="http://schemas.microsoft.com/office/drawing/2014/main" id="{8B74DA83-62E1-47DA-E401-063357BE0B4F}"/>
                  </a:ext>
                </a:extLst>
              </p:cNvPr>
              <p:cNvSpPr/>
              <p:nvPr/>
            </p:nvSpPr>
            <p:spPr>
              <a:xfrm>
                <a:off x="1462169" y="1793977"/>
                <a:ext cx="23354" cy="23312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7" extrusionOk="0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86;p55">
                <a:extLst>
                  <a:ext uri="{FF2B5EF4-FFF2-40B4-BE49-F238E27FC236}">
                    <a16:creationId xmlns:a16="http://schemas.microsoft.com/office/drawing/2014/main" id="{2508EB8A-E04B-A6BC-1A31-564B42EA55F9}"/>
                  </a:ext>
                </a:extLst>
              </p:cNvPr>
              <p:cNvSpPr/>
              <p:nvPr/>
            </p:nvSpPr>
            <p:spPr>
              <a:xfrm>
                <a:off x="1379798" y="1723250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87;p55">
                <a:extLst>
                  <a:ext uri="{FF2B5EF4-FFF2-40B4-BE49-F238E27FC236}">
                    <a16:creationId xmlns:a16="http://schemas.microsoft.com/office/drawing/2014/main" id="{E2702E20-B42C-2622-72EB-02C538C8A318}"/>
                  </a:ext>
                </a:extLst>
              </p:cNvPr>
              <p:cNvSpPr/>
              <p:nvPr/>
            </p:nvSpPr>
            <p:spPr>
              <a:xfrm>
                <a:off x="1555413" y="1886846"/>
                <a:ext cx="139912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7837" extrusionOk="0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88;p55">
                <a:extLst>
                  <a:ext uri="{FF2B5EF4-FFF2-40B4-BE49-F238E27FC236}">
                    <a16:creationId xmlns:a16="http://schemas.microsoft.com/office/drawing/2014/main" id="{80C9ED38-3130-BEFD-0CF9-F7D7E00E688D}"/>
                  </a:ext>
                </a:extLst>
              </p:cNvPr>
              <p:cNvSpPr/>
              <p:nvPr/>
            </p:nvSpPr>
            <p:spPr>
              <a:xfrm>
                <a:off x="1462169" y="1887200"/>
                <a:ext cx="23354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7820" extrusionOk="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82AE90-2D19-4168-8C86-11778E62404B}"/>
                </a:ext>
              </a:extLst>
            </p:cNvPr>
            <p:cNvSpPr txBox="1"/>
            <p:nvPr/>
          </p:nvSpPr>
          <p:spPr>
            <a:xfrm>
              <a:off x="1251122" y="1683608"/>
              <a:ext cx="1529149" cy="90794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>
                  <a:highlight>
                    <a:srgbClr val="FFFFFF"/>
                  </a:highlight>
                  <a:hlinkClick r:id="rId4"/>
                </a:rPr>
                <a:t>asmaa-khasawneh</a:t>
              </a:r>
              <a:br>
                <a:rPr lang="en-US"/>
              </a:br>
              <a:endParaRPr lang="en-US"/>
            </a:p>
            <a:p>
              <a:endParaRPr lang="en-US"/>
            </a:p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4048485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Industrial Preliminary Project by Slidesgo</vt:lpstr>
      <vt:lpstr>Slidesgo Final Pages</vt:lpstr>
      <vt:lpstr>End-to-End Quality Assurance Testing for a Retail Web &amp; API System</vt:lpstr>
      <vt:lpstr>TABLE OF CONTENTS</vt:lpstr>
      <vt:lpstr>Test Planning &amp; Strategy</vt:lpstr>
      <vt:lpstr>Manual Testing</vt:lpstr>
      <vt:lpstr>API Testing</vt:lpstr>
      <vt:lpstr>API Testing</vt:lpstr>
      <vt:lpstr>Newman Report </vt:lpstr>
      <vt:lpstr>Performance Testing(k6)</vt:lpstr>
      <vt:lpstr>K6 Analysis </vt:lpstr>
      <vt:lpstr>UI Automation Testing</vt:lpstr>
      <vt:lpstr>Mobile Testing</vt:lpstr>
      <vt:lpstr>GITHUB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87</cp:revision>
  <dcterms:modified xsi:type="dcterms:W3CDTF">2026-02-10T06:03:47Z</dcterms:modified>
</cp:coreProperties>
</file>